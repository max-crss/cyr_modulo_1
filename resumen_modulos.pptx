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solidFill>
            <a:srgbClr val="2E4B7A"/>
          </a:solidFill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000">
                <a:solidFill>
                  <a:srgbClr val="FFFFFF"/>
                </a:solidFill>
                <a:latin typeface="Calibri"/>
              </a:defRPr>
            </a:pPr>
            <a:r>
              <a:t>Resumen de Módulos – Instalación de Redes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6600"/>
                </a:solidFill>
                <a:latin typeface="Calibri"/>
              </a:defRPr>
            </a:pPr>
            <a:r>
              <a:t>3° Medio TP Conectividad y Redes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CCCC"/>
                </a:solidFill>
                <a:latin typeface="Calibri"/>
              </a:defRPr>
            </a:pPr>
            <a:r>
              <a:t>Instalación de Redes – Asignatura Técnico-Profesional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📋 Índice de Contenidos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🔵  TEMA 1 – Modelo OSI y Modelo TCP/IP  (Slides 3–10)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🔌  TEMA 2 – Componentes de Red: Router, Switch, Patch Panel,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Jack/Wall Mount, Rack, Servidores  (Slides 11–18)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🔧  TEMA 3 – Cableado Estructurado: backbone, salas, acometida,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marcado de cables, subsistemas  (Slides 19–25)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📏  TEMA 4 – Normas TIA/EIA 568A y 568B: colores, cable directo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vs cruzado, buenas prácticas  (Slides 26–31)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🔵 ¿Qué es el Modelo OSI?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📌 Definición: Estándar internacional de 7 capas para comunicaciones entre computadores.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🗓️  Creado en 1984 por la ISO (International Organization for Standardization).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🎯 Objetivo: Que equipos de DISTINTOS fabricantes puedan comunicarse entre sí.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📐 OSI = Open Systems Interconnection (Interconexión de Sistemas Abiertos).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Modelo TEÓRICO de referencia — base para entender cómo funciona cualquier red.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💡 Ejemplo: "Gracias al modelo OSI, un PC Dell puede hablar con un Mac de Apple."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📊 Las 7 Capas del Modelo OSI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645920"/>
                <a:gridCol w="3840480"/>
                <a:gridCol w="5029200"/>
              </a:tblGrid>
              <a:tr h="377190"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N°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Nombre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Función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Ejemplo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Aplicación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Interfaz usuario ↔ red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HTTP, FTP, DNS, SMTP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Presentación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Cifrado y compresión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SSL/TLS, JPEG, MP4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Sesión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Abrir / cerrar sesiones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NetBIOS, RPC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Transporte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TCP/UDP, control de flujo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TCP puerto 80 (HTTP)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Enrutamiento IP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Router, IPv4/IPv6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Enlace de Datos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Tramas, dirección MAC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Switch, NIC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Física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Bits eléctricos / ópticos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Cable UTP, fibra óptica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⚡ Capa Física – Capa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❓ ¿Qué hace?: Convierte datos en señales eléctricas, ópticas o inalámbricas.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📡 Medios de transmisión: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Cable UTP Cat6 → señal eléctrica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Fibra Óptica   → señal de luz (pulsos láser)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WiFi           → ondas de radio (2.4 GHz / 5 GHz)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🔧 Dispositivos de Capa 1: Hub, repetidor, cable de red.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💡 Ejemplo real: "El cable de red que conectas al PC trabaja en Capa 1 — solo transporta bits, no sabe qué contienen."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🌐 Capa de Red – Capa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❓ ¿Qué hace?: Enruta paquetes entre redes DISTINTAS.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📦 Protocolo principal: IP (Internet Protocol)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IPv4: direcciones de 32 bits  →  ej. 192.168.1.1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IPv6: direcciones de 128 bits →  ej. 2001:db8::1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🔧 Dispositivo de Capa 3: ROUTER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🔄 El router examina la IP de destino y decide la mejor ruta.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💡 Ejemplo: "Tu router de casa decide si el paquete va a Internet (WAN) o se queda en tu red local (LAN)."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🚦 Capa de Transporte – Capa 4: TCP vs UDP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4114800"/>
              </a:tblGrid>
              <a:tr h="381000"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Característica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TCP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UDP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Confiabilidad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Garantiza entrega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❌ Sin confirmación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Velocidad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Más lento (confirmaciones)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Más rápido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Orden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Ordena los paquetes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 orden garantizado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Uso típico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Web, email, FTP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Video streaming, juegos, DNS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Ejemplo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Descarga de archivo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Videollamada en tiempo real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🔑 Puertos conocidos: HTTP=80  |  HTTPS=443  |  FTP=21  |  DNS=53  |  SMTP=25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🌍 Modelo TCP/IP – Las 4 Capas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00400"/>
                <a:gridCol w="530352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 TCP/IP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Equivalente OSI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Protocolos principales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Aplicación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Capas 5, 6, 7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HTTP, FTP, DNS, SMTP, Telnet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Transporte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 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TCP, UDP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 3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IP, ICMP, ARP, OSPF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Acceso a Red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Capas 1 y 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Ethernet, WiFi (802.11), PPP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📌 TCP/IP = modelo PRÁCTICO — es el que realmente usa Internet hoy en día.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📌 OSI = modelo TEÓRICO de referencia para entender y diseñar redes.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🔄 OSI vs TCP/IP – Comparación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914400"/>
                <a:gridCol w="6400800"/>
              </a:tblGrid>
              <a:tr h="377190"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 OSI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N°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 TCP/IP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Aplicación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Aplicación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Presentación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Aplicación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Sesión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Aplicación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Transporte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Transporte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Internet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Enlace de Datos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Acceso a Red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Física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Acceso a Red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💡 "OSI para ENTENDER — TCP/IP para IMPLEMENTAR. Ambos modelos coexisten."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💻 Ejemplo Práctico: Abrir www.google.com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🔽 Proceso al hacer clic en el navegador (ocurre en milisegundos):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7️⃣ Aplicación  → Chrome genera petición HTTP GET /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4️⃣ Transporte  → TCP divide datos en segmentos, usa puerto 80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3️⃣ Red         → IP agrega dirección destino 142.250.x.x (Google)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2️⃣ Enlace      → Trama Ethernet con MAC address del router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1️⃣ Física      → Bits viajan por el cable UTP o WiFi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📨 Google responde y el proceso ocurre al revés (subiendo capas).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✅ "Cada vez que abres una página, las 7 capas trabajan en conjunto."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🔌 El Router – Conecta Redes Distintas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❓ ¿Qué es?: Dispositivo que CONECTA redes distintas y decide la mejor ruta para los paquetes.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🔵 Capa OSI: Capa 3 – Red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🏠 Tipos de router: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Doméstico: router de casa con WiFi (ej. Movistar router)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Empresarial: Cisco, Mikrotik — múltiples interfaces y VLANs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De borde (ISP): conecta la red del proveedor con Internet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💡 Ejemplo: "El router de tu casa tiene DOS interfaces: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→ WAN (hacia Internet)   y   → LAN (hacia tu red local)."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🔀 El Switch – Conecta Equipos en la 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❓ ¿Qué es?: Dispositivo que conecta equipos DENTRO de la misma red (LAN).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🔵 Capa OSI: Capa 2 – Enlace de Datos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📋 Función: Aprende la MAC de cada equipo y reenvía tramas SOLO al destinatario.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🔧 Tipos: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No administrable: plug &amp; play, sin configuración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Administrable: soporta VLANs, QoS, trunking (Cisco Catalyst)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⚖️  Switch vs Hub: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Switch → envía trama SOLO al destino correcto (eficiente)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Hub    → envía trama a TODOS los puertos (obsoleto)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💡 Ejemplo: "El switch del laboratorio conecta los 30 PC entre sí."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🧩 Patch Panel – Centro Organizador del 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❓ ¿Qué es?: Panel con puertos RJ-45 en el rack que centraliza TODOS los cables del edificio.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🎯 Función: Punto de conexión organizado entre el cableado permanente (pared) y los equipos activos.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Ventaja clave: Cambiar conexiones usando patch cords SIN mover cables de la pared.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📦 Capacidades típicas: 24 puertos o 48 puertos (en 1U de rack).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🔧 Se termina con herramienta punch-down (IDC) en la parte trasera.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💡 Ejemplo: "El técnico desconecta el patch cord del patch panel para reubicar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un equipo — no toca los cables que están dentro de la pared."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🔲 Jack / Roseta de Red – Acceso del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❓ ¿Qué es?: Conector hembra RJ-45 instalado en la pared.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🏷️  También llamado: roseta, toma de red, faceplate, wall outlet.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🎯 Función: Punto de acceso del usuario para conectar su equipo a la red.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🔧 Instalación: Se termina con herramienta de impacto (punch-down tool).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📏 Estándar de terminación: TIA/EIA 568A  o  TIA/EIA 568B.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🎨 Código de colores: normalmente azul (datos) o negro/gris (voz).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💡 Ejemplo: "El conector azul en la pared de la sala de clases donde enchufas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tu cable de red es un jack RJ-45 terminado en 568B."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🗄️ El Rack – Gabinete de Equipos de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❓ ¿Qué es?: Gabinete metálico estandarizado para montar equipos de red en forma ordenada.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📐 Medida estándar: Unidades de Rack (U) → 1U = 44.45 mm de altura.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📦 Tamaños comunes: 12U (pequeño) | 24U (mediano) | 42U (sala de servidores).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🔧 Contenido típico de un rack: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Switches administrables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Patch panels (24 o 48 puertos)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Servidores 1U / 2U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UPS (UPS de rack)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Organizadores de cable (1U)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💡 Ejemplo: "Un rack de 42U puede contener hasta 42 dispositivos de 1U apilados."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🖥️ Servidores – Proveedores de Servicios en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❓ ¿Qué es?: Computador de alta disponibilidad que provee servicios a clientes de red.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⚖️  Diferencia con un PC normal: hardware redundante, sin pantalla, diseño 1U/2U para rack.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🔧 Tipos de servidores y su función: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DHCP    → Asigna IPs automáticamente a los equipos de la red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DNS     → Traduce nombres de dominio a direcciones IP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Web     → Aloja páginas web (Apache, IIS, Nginx)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Archivos → Almacenamiento compartido (NAS, Samba)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AD/LDAP → Gestión de usuarios y permisos (Active Directory)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💡 Ejemplo: "El servidor DHCP del colegio le da una IP a tu notebook cuando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te conectas al WiFi — automáticamente, en menos de 1 segundo."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🗺️ Diagrama: Flujo de Conexión de la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🌐 INTERNET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↓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📡 ACOMETIDA (fibra del ISP) ──→ 🖥️ ROUTER (Capa 3)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                               ↓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                        🔀 SWITCH CORE (Capa 2)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                         ↙             ↘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   🔀 Switch Acceso Piso 1         🖥️ Servidores (DHCP, DNS, Web)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           ↓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   🧩 PATCH PANEL (rack)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           ↓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   〰️  Cable UTP Cat6 por la pared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           ↓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   🔲 JACK RJ-45 (en la pared)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           ↓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   💻 PC del usuario (con patch cord)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📊 Resumen: Dispositivos y su Capa OSI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6400800"/>
              </a:tblGrid>
              <a:tr h="378822"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Dispositivo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 OSI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Función principal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Hub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 1 – Física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Repite señal a TODOS los puertos (obsoleto)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Switch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 2 – Enlace de Datos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Reenvía tramas por dirección MAC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Router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 3 – Red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Enruta paquetes por dirección IP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Patch Panel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N/A (pasivo)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Organiza y centraliza el cableado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Jack/Roseta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N/A (pasivo)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Punto de acceso del usuario a la red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8828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Servidor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 7 – Aplicación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Provee servicios: DHCP, DNS, Web, etc.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🔧 ¿Qué es el Cableado Estructurado?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📌 Definición: Sistema de cableado organizado, estandarizado y documentado para transmitir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datos, voz y video en un edificio o campus.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📏 Norma que lo regula: TIA/EIA-568 (internacional).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🔑 Características clave: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Independiente del fabricante → cualquier marca de equipo es compatible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Escalable → se puede crecer la red sin rehacer el cableado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Documentado → planos, etiquetas e inventario de cada punto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Por qué es importante: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✅ Reduce fallas y tiempo de reparación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✅ Permite crecer la red fácilmente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✅ Acepta datos, voz y video en la misma infraestructura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✅ Exigido en instalaciones profesionales y licitaciones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⚠️ ¿Por qué es tan Importante?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❌ SIN cableado estructurado: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Cables sin identificar → nadie sabe a dónde van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Difícil mantención → reparaciones toman horas o días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Aspecto caótico → aumenta riesgo de errores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CON cableado estructurado: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Cada cable etiquetado y documentado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Rutas ordenadas por canaletas y bandejas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Plano actualizado de cada punto de red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📊 Dato real: El 70% de los problemas de red tienen origen en el cableado mal instalado.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💡 "Un buen cableado estructurado puede durar 15–20 años aunque cambies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todos los equipos activos de la red."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🏗️ El Backbone – Cableado Vertical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❓ ¿Qué es?: Cableado que interconecta los diferentes pisos, edificios o salas de telecomunicaciones.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🏷️  También llamado: cableado vertical, riser, columna vertebral.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📡 Medio usado: Fibra Óptica (preferido) o UTP Cat6A para distancias cortas.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🎯 Función: Transportar el tráfico de TODA la red hacia el punto central (MDF).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🏢 En un edificio de 3 pisos: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Sala principal (MDF) → Fibra Óptica → Sala de piso IDF → UTP → Usuario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🛣️  Analogía: "El backbone es como la AUTOPISTA de la red.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Los cables de piso son las calles locales del barrio."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🏢 MDF e IDF – Salas de Telecomunicaciones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🖥️  MDF – Main Distribution Frame (Sala de Servidores Principal):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Centro PRINCIPAL de toda la red del edificio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Contiene: router, switch core, servidores, UPS principal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Requisitos: climatización (A/C), acceso restringido, piso técnico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📦 IDF – Intermediate Distribution Frame (Cuarto de Telecomunicaciones):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Sala SECUNDARIA por piso o área del edificio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Contiene: switch de acceso, patch panel de ese piso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Conectado al MDF mediante backbone de fibra óptica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💡 Ejemplo en un colegio de 3 pisos: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→ 1 MDF en planta baja (sala de computación principal)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→ 1 IDF por piso adicional (armario de red en pasillo)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📡 La Acometida – La Conexión que viene de Afuera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❓ ¿Qué es la Acometida?: Tramo de red que va desde la infraestructura pública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(poste o cámara de calle) hasta el interior del edificio.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🏷️  También conocida como: 'última milla', 'acometida externa', 'ingreso de portador'.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👷 ¿Quién la instala?: El proveedor de Internet (ISP) — Movistar, VTR, Entel, GTD, etc.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📡 Medios usados según tecnología: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Fibra Óptica (FTTH)    → mejor velocidad y calidad (hasta 10 Gbps)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Cable coaxial (HFC)    → TV cable + Internet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Par de cobre (ADSL)    → tecnología antigua, menor velocidad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🔌 Termina en: Sala de Servidores (MDF) en el equipo ONT o módem del ISP.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💡 Ejemplo: "El cable naranja que baja del poste y entra por el muro del colegio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es la acometida de Movistar — desde ahí en adelante es red interna."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🏷️ Por qué es Importante Marcar los Cables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📏 Norma de referencia: TIA-606 — regula la administración e identificación del cableado.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🔑 Razones para marcar los cables: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🔍 Identificar un cable en segundos, no en horas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📋 Mantener documentación actualizada de la red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🔧 Reducir errores en mantención (no desconectar el cable equivocado)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👷 Requerido para certificaciones, auditorías y garantías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🏷️  Métodos de marcado: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Etiquetas adhesivas impresas en AMBOS extremos del cable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Código de colores por área, piso o servicio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Numeración estándar: PISO-SALA-PUNTO  (ej: 2-LAB-PC05)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⚡ Ejemplo real: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Sin marcado → técnico tarda 2 HORAS buscando el cable del PC-15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Con marcado → encuentra el cable en 30 SEGUNDOS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📐 Subsistemas del Cableado Estructurado (TIA-568)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2999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955279"/>
              </a:tblGrid>
              <a:tr h="378822"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Subsistema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 Entrada del Edificio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Acometida externa → sala de servidores (MDF)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 Sala de Equipos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MDF con servidores, router y switch core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 Cableado Backbone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Conecta MDF con IDFs → usa fibra óptica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4. Cuarto de Telecom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IDF por piso: patch panel + switch de acceso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 Cableado Horizontal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 patch panel al jack de pared → UTP Cat6 (máx 90m)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8828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 Área de Trabajo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 jack RJ-45 al equipo del usuario → patch cord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📏 Normas TIA/EIA-568 – ¿Para qué sirven?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🏢 Publicadas por: TIA (Telecommunications Industry Association) y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EIA (Electronic Industries Alliance) — USA.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🎯 ¿Para qué sirven?: Estandarizar el cableado de telecomunicaciones en edificios.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📋 Incluyen: tipos de cable aceptados, distancias máximas, conectores y ORDEN DE COLORES.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🗓️  Versiones históricas: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TIA-568-A → 1991 (primera versión)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TIA-568-B → 2001 (más usada en Chile)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TIA-568-C → 2009 (actualización)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TIA-568-D → 2015 (incluye Cat8)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⚠️  "Sin estas normas, cada empresa haría el cableado a su manera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y nada sería compatible entre sí."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🔌 El Conector RJ-45 – 8 Pines, 8 Conductores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📌 RJ-45: 8P8C → 8 Posiciones / 8 Conductores (contactos).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🔧 Partes del conector: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Cuerpo plástico transparente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8 pines dorados de contacto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• Lengüeta de seguridad (clip) para bloquear el conector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🛠️  Herramienta para instalar: PONCHADORA RJ-45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📡 Cables compatibles: UTP Cat5e, Cat6, Cat6A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🎯 Usado en: Ethernet (redes de datos LAN)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⚠️  TIP importante: "Siempre verificar el ORDEN DE COLORES ANTES de ponchar.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Un error en el orden significa rehacer el conector completo."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🟢 Orden de Colores – TIA 568A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400800"/>
                <a:gridCol w="4114800"/>
              </a:tblGrid>
              <a:tr h="375920"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Color TIA 568A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⚪ Blanco / Verde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3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🟢 Verde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⚪ Blanco / Naranja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2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🔵 Azul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⚪ Blanco / Azul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1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🟠 Naranja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⚪ Blanco / Café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4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🟤 Café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🧠 Nemotecnia 568A: BV – V – BN – Az – BAz – N – BCa – Ca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🟠 Orden de Colores – TIA 568B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400800"/>
                <a:gridCol w="4114800"/>
              </a:tblGrid>
              <a:tr h="375920"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Color TIA 568B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⚪ Blanco / Naranja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2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🟠 Naranja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⚪ Blanco / Verde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3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🔵 Azul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⚪ Blanco / Azul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1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🟢 Verde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⚪ Blanco / Café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4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🟤 Café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 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🧠 Nemotecnia 568B: BN – N – BV – Az – BAz – V – BCa – Ca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⚠️  Diferencia con 568A: solo intercambia los pares Naranja (pins 1,2) y Verde (pins 3,6).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🔁 Cable Directo vs Cable Cruzado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887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4572000"/>
              </a:tblGrid>
              <a:tr h="381000"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Característica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Cable Directo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1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Cable Cruzado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Estándar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568B – 568B (mismo en ambos extremos)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568A – 568B (distintos extremos)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Color pin 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⚪ Blanco / Naranja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⚪ Blanco / Verde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Equipos conectados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Equipos DISTINTOS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Equipos IGUALES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Uso típico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PC → Switch | Switch → Router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PC → PC | Switch → Switch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¿Se usa hoy?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Sí, instalaciones estándar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b="0" sz="15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⚠️ Raro — Auto MDI-X lo reemplaza</a:t>
                      </a:r>
                    </a:p>
                  </a:txBody>
                  <a:tcPr>
                    <a:solidFill>
                      <a:srgbClr val="2E4B7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🤖 Auto MDI-X: tecnología moderna que detecta el tipo de conexión automáticamente.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✅ "En instalaciones nuevas siempre se usa 568B en ambos extremos (cable directo)."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alibri"/>
              </a:defRPr>
            </a:pPr>
            <a:r>
              <a:t>✅ Resumen Final y Buenas Prácticas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Usar SIEMPRE el mismo estándar en toda la instalación (generalmente 568B).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Marcar AMBOS extremos del cable con la misma etiqueta.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Respetar distancias máximas: 90m cable permanente + 10m patch cords = 100m total.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Documentar cada punto de red en un plano actualizado.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Usar materiales certificados (cables con etiqueta TIA/EIA).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⚠️  NO mezclar 568A y 568B en la misma instalación.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⚠️  NO doblar cables en ángulos menores a 4× el diámetro del cable.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⚠️  NO superar los 100m de distancia total por punto de red.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🏆 "Una instalación bien hecha HOY evita horas de trabajo MAÑANA.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El cableado estructurado es la base de toda red profesional."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