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73152" cy="6629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</a:rPr>
              <a:t>Conectividad y Redes  |  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Actividad N°6: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600"/>
                </a:solidFill>
              </a:rPr>
              <a:t>Instalando Puntos de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Instalación de redes de área local cableadas e inalámbricas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9D9D9"/>
                </a:solidFill>
              </a:rPr>
              <a:t>3° Medio  ·  Técnico Profesional  ·  Especialidad Conectividad y Redes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Objetivos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Aprendizaje Esperado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1.3.3 – Clasificar materiales, herramientas e implementos de seguridad para instalar cableado estructurado.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1.3.4 – Instalar ductos y cableado según planos; etiquetar cables, conectores y tomas de 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1.3.5 – Instalar racks, patch panels y puntos terminales de red respetando estándares técnicos.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1.3.6 – Realizar pruebas con LAN Tester para verificar la calidad de la instalación.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1.3.7 – Comunicar e informar los resultados generando documentación pertinente.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¿Qué es un Punto de 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La conexión final entre el cableado y el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Un punto de red es la toma o salida donde el usuario conecta su computador a la red de cableado estructurado del edificio.
Se compone de: Jack Keystone + Faceplate + Canaleta.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</a:rPr>
              <a:t>💡 Ejemplo cotidiano: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Imagina que la red del colegio es como el tendido eléctrico de una casa:
el cable UTP sería el cable eléctrico dentro de la pared,
y el punto de red sería el enchufe en la pared que ves en cada sala.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280160"/>
            <a:ext cx="3840480" cy="4114800"/>
          </a:xfrm>
          <a:prstGeom prst="rect">
            <a:avLst/>
          </a:prstGeom>
          <a:solidFill>
            <a:srgbClr val="2E4B7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🖥️  PC del alumno
         |
🔌  Patch Cord
         |
🔲  Jack Keystone (pared)
         |
📦  Cable UTP Cat6 (canaleta)
         |
🗂️  Patch Panel
         |
🔀  Switch → 🌐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Materiales y Herramientas Necesarias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¿Qué necesitamos para instalar un punto de red?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Material / Herramienta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¿Para qué sirve?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Cable UTP Cat6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Transmitir datos hasta 100 m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Jack Keystone RJ-45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Toma de red empotrable en la pared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Faceplate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Cubre el jack; da terminación prolija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Canaleta plástica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Protege y ordena los cables en la pared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Patch Panel 24 puertos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Organiza todas las llegadas de cable al rack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Herramienta Punch-Down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Presiona los cables en el jack o patch panel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Tijeras / Pelacable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Quitar la cubierta exterior del cable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LAN Tester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Probar que el cable está bien terminado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Etiquetas adhesivas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Identificar cada cable (estándar TIA)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Cable UTP Cat6 – Características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El 'conductor' de los datos dentro del edificio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📏  Distancia máxima: 100 metros por segmento (estándar TIA-568)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🔢  8 conductores de cobre organizados en 4 pares trenzados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  Velocidad: hasta 10 Gbps (Cat6) – Cat5e solo llega a 1 Gbps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🎨  Colores de pares: Azul / Naranja / Verde / Marrón (+ variante blanca)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  Sin blindaje en UTP (Unshielded Twisted Pair) – más económico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🏭  Estándar: ANSI/TIA-568-C.2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600"/>
                </a:solidFill>
              </a:rPr>
              <a:t>💡 Cat6 tiene un separador plástico central (cruceta) que reduce la interferencia entre pares.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Jack Keystone – ¿Qué es y cómo funciona?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La pieza clave del punto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El Jack Keystone es un módulo RJ-45 que se encaja (snap-in) en un faceplate o en el patch panel.
▶  Parte trasera: 8 ranuras donde se insertan los cables con la herramienta punch-down
▶  Parte frontal: conector RJ-45 hembra donde el usuario conecta su patch 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0972800" cy="2286000"/>
          </a:xfrm>
          <a:prstGeom prst="rect">
            <a:avLst/>
          </a:prstGeom>
          <a:solidFill>
            <a:srgbClr val="2E4B7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📌 Recuerda:
Los jacks son de colores o tienen etiquetas A/B para indicar la norma (568A o 568B).
Siempre usa la misma norma en AMBOS extremos del cable → si empiezas con 568B, termina con 568B.
Mezclar normas en los dos extremos crea un cable CRUZADO (útil para otros casos).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Norma TIA 568B – Tabla de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La norma más usada en Chile para instalaciones comerciales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Pin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Color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Par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Blanco-Naranja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TX+ (transmisión)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Naranja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TX- (transmisión)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Blanco-Verde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RX+ (recepción)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Azul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PoE / telefonía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Blanco-Azul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PoE / telefonía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Verde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RX- (recepción)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Blanco-Marrón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PoE / Gigabit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Marrón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PoE / Gigabit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6600"/>
                </a:solidFill>
              </a:rPr>
              <a:t>💡 TIA 568A invierte pares 2 y 3: Pin 1=Blanco-Verde, 2=Verde, 3=Blanco-Naranja, 6=Naranja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Herramienta Punch-Down – ¿Cómo usarla?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La 'pistola' del instalador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La herramienta punch-down (impactadora) inserta y corta el cable conductor dentro de la ranura del jack o patch panel en un solo golpe.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1️⃣  Quitar aprox. 3 cm de cubierta exterior del cable sin dañar los pares.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01568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2️⃣  Separar los 4 pares y ordenarlos según la norma del jack (A o 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68496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3️⃣  Insertar cada conductor en su ranura de color correspondiente.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35424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4️⃣  Colocar la herramienta punch-down con el filo hacia AFUERA del jack.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0235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5️⃣  Presionar firmemente hasta escuchar un 'click' – el cable queda sujeto y cortado.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⚠️  No destrenzes más de 1.25 cm de los pares – ¡afecta la calidad de la señal!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Paso a Paso: Instalación del Jack Keystone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6 pasos para conectar un punto de red correctamente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1.  Mide y corta el cable UTP Cat6 dejando 30 cm de margen en la caja.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2.  Pela 3 cm de la cubierta exterior con el pelacable o tijera.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3.  Ordena los 8 conductores según la norma TIA 568B (colores del jack).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4.  Usa el punch-down para presionar cada cable en su ranura.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5.  Ajusta el jack al faceplate y fija el faceplate a la caja.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6.  Prueba con el LAN Tester – los 8 LEDs deben parpadear en orden.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Faceplate y Canaleta – Para qué sirven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La 'terminación' profesional del punto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</a:rPr>
              <a:t>🔲  Faceplate (placa de pared)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Marco plástico que cubre la caja empotrada.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Acepta 1, 2 o 4 módulos keystone.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2344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Da terminación estética y profesional.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8269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Protege el jack del polvo y golpes.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</a:rPr>
              <a:t>📦  Canaleta de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Canal plástico que recorre paredes/cielo.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2199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Protege y ordena los cables UTP.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Ancho varía según N° de cables (20x12 a 100x60 mm).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8269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Cumple norma de cableado estructurado TIA-568.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600"/>
                </a:solidFill>
              </a:rPr>
              <a:t>💡 Para 24 puntos de red, una canaleta 40×25 mm suele ser suficiente. Para más puntos, usar 60×40 mm.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Conexión al Patch Panel – El Recorrido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Desde el computador del alumno hasta el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</a:rPr>
              <a:t>El recorrido de la señal en una red con cableado estructurado: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1430000" cy="493776"/>
          </a:xfrm>
          <a:prstGeom prst="rect">
            <a:avLst/>
          </a:prstGeom>
          <a:solidFill>
            <a:srgbClr val="2E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🖥️  PC /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Genera el tráfico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13432"/>
            <a:ext cx="11430000" cy="4937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🔌  Patch Cord (usuario)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59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Cable corto RJ45 ↔ Jack de pared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11430000" cy="493776"/>
          </a:xfrm>
          <a:prstGeom prst="rect">
            <a:avLst/>
          </a:prstGeom>
          <a:solidFill>
            <a:srgbClr val="2E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🔲  Jack Keystone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8950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Toma de red empotrada en la pared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74136"/>
            <a:ext cx="11430000" cy="4937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198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📦  Cable UTP Cat6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1985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Recorre la canaleta hasta el rack (máx. 90 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04488"/>
            <a:ext cx="11430000" cy="493776"/>
          </a:xfrm>
          <a:prstGeom prst="rect">
            <a:avLst/>
          </a:prstGeom>
          <a:solidFill>
            <a:srgbClr val="2E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502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🗂️  Patch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502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Organiza todas las llegadas de cable en el rack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430000" cy="4937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🔌  Patch Cord (equipo)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80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Cable corto Patch Panel ↔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65192"/>
            <a:ext cx="11430000" cy="493776"/>
          </a:xfrm>
          <a:prstGeom prst="rect">
            <a:avLst/>
          </a:prstGeom>
          <a:solidFill>
            <a:srgbClr val="2E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10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🔀  Switch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109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Conecta todos los equipos de la 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95544"/>
            <a:ext cx="11430000" cy="4937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412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🌐  Router / Internet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54126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Salida hacia la red exterior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Rack / Armario – El corazón de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Donde se concentra todo el equipamiento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</a:rPr>
              <a:t>📦  ¿Qué 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Gabinete metálico de 19" (estándar) que contiene:
• Switch(es)
• Patch panel
• Bandejas de cables
• UPS (respaldo eléctrico)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</a:rPr>
              <a:t>📏  Medidas importantes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1 Unidad de Rack (1U) = 44,45 mm de alto
• Patch panel típico ocupa 1U
• Switch 24 puertos ocupa 1U
• Separación recomendada: 2U entre dispositivos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</a:rPr>
              <a:t>🔢  ¿Cuántos U necesito?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Ejemplo para laboratorio con 24 PCs: 1U patch panel + 2U separación + 1U switch + 2U separación + 1U switch extra + 2U bandejas = aprox. 12U → usar rack de 16U o 22U.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Errores Comunes – ¡Qué NO Hacer!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Aprende de los errores más frecuentes en instalación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Mezclar norma 568A en un extremo y 568B en el otro (sin querer).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75104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Pelar demasiado el cable → conductores expuestos = interferencia.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24328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Destrensar más de 1.25 cm los pares → pérdida de señal a alta velocidad.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73552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Doblar el cable en ángulo de 90° → aplasta los conductores y rompe el par.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22776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No etiquetar el cable → confusión futura y tiempo perdido en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Superar los 100 m de cable → la señal se degrada y el tester fallará.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21224"/>
            <a:ext cx="1127455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❌  No testear antes de cerrar la pared → ¡descubierto demasiado tarde!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Cómo Probar el Punto de Red con LAN Tester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La prueba de calidad antes de dar el trabajo por terminado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El LAN Tester mide la CONTINUIDAD de cada uno de los 8 pines del cable.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7455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LED N°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Pin / Color (568B)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¿Qué indica?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Blanco-Naranja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Naranja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Blanco-Verde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Azul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Blanco-Azul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Verde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Blanco-Marrón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Marrón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Parpadea → OK  /  No parpadea → corte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6600"/>
                </a:solidFill>
              </a:rPr>
              <a:t>✅ Prueba exitosa: los 8 LEDs parpadean en orden (1-2-3-4-5-6-7-8). Si parpadean fuera de orden → cable cruzado.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Etiquetado de Cables – Norma TIA-606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¿Por qué etiquetar? Porque sin orden no hay red que funcione bien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El estándar TIA-606 establece cómo identificar cada cable, puerto y dispositivo en una instalación de cableado estructurado. Un buen etiquetado ahorra horas de trabajo en diagnóstico y mantenimiento.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27455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Elemento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Formato etiqueta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Ejemplo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Cable de pared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SALA-PUNTO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LAB1-P03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Puerto patch panel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PP-SALA-N°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PP-LAB1-03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Puerto switch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SW-N°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SW-03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Jack de pared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SALA-PUNTO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LAB1-P03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Patch cord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ORIGEN→DESTINO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SW03→PP03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6600"/>
                </a:solidFill>
              </a:rPr>
              <a:t>⚠️  Etiquetar AMBOS extremos del cable. Usar cinta de etiquetado resistente o portaetiquetas.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Estudio de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Situación real: laboratorio de computación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Un establecimiento educacional ha adjudicado a tu empresa la instalación de una red de cableado estructurado horizontal para abastecer un laboratorio de computación.
La red se expande desde el armario/gabinete central hasta las áreas de trabajo de cada usuario.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</a:rPr>
              <a:t>📋  Tareas asignadas: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74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Montar switch y patch panel en el armario respetando 2U de separación.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95344"/>
            <a:ext cx="11274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Construir 2 patch cords según normativa TIA/EIA-568.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8848"/>
            <a:ext cx="11274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Instalar ductos y canaletas siguiendo el plano de 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02352"/>
            <a:ext cx="11274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Conectar módulos RJ-45 (jacks) y user cords en cada punto de trabajo.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05856"/>
            <a:ext cx="11274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→  Testar y etiquetar cada punto de red al finalizar.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Instrucciones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Trabajo en clases – Realizando mis puntos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1.  Formen equipos de 3 integrantes.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2.  Armen un cable 'cruzado' y un cable 'derecho' con conectores RJ-45
     siguiendo normas TIA 568A y TIA 568B.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3.  Muestren el cable al docente y compartan resultados con el 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4.  Verifiquen el mapeado y continuidad del cable con el probador de cables.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5.  Etiqueten ambos extremos según estándares internacionales.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6.  Conecten los patch cords entre switch y patch panel del bastidor.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7.  Dejen el lugar limpio y ordenado — ¡el orden es parte de la nota!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Entregables y Criterios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Rúbrica de evaluación – Presentación de solución del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</a:rPr>
              <a:t>📋  Tu presentación debe incluir: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a.  Argumentación técnica paso a paso de los procedimientos realizados.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b.  Descripción de infraestructura, herramientas y materiales utilizados.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c.  Evidencia gráfica (fotos o diagramas) de los procedimientos.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d.  Conclusión técnica grupal sobre el caso planteado.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0040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Indicador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Excelente (4)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Bueno (3)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Regular (2)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Debe mejorar (1)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Argumentación técnica procedimientos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100% de pasos argumentados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75% argumentados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50% argumentados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≤25% argumentados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Herramientas y materiales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Todos correctamente descritos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La mayoría correctos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Solo algunos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Descripción incorrecta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Evidencia gráfica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Fotos claras de todos los pasos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Fotos parciales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Pocas evidencias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Sin evidencias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Conclusión técnica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Completa y fundamentada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Parcialmente fundamentada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Superficial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Sin conclusión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Ticket de Salida – ¡Reflexionemos!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Antes de salir, responde estas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45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1.  Para una red de 24 puntos de red, ¿qué canaleta recomendarías? ¿Por qué?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67128"/>
            <a:ext cx="112745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2.  ¿Qué diferencia física tiene un cable UTP Cat6 vs Cat5e?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08376"/>
            <a:ext cx="112745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3.  ¿Qué procedimiento te resultó más complejo en esta actividad?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9624"/>
            <a:ext cx="112745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4.  ¿En qué situaciones de la vida real aplicarías estos conocimientos?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90872"/>
            <a:ext cx="112745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5.  ¿Crees que podrías crear un emprendimiento con estas habilidades?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6600"/>
                </a:solidFill>
              </a:rPr>
              <a:t>💬  Puedes responder en Kahoot, Mentimeter, Padlet o Google Forms.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Resumen – Puntos Clave Aprendidos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600"/>
                </a:solidFill>
              </a:rPr>
              <a:t>¿Qué nos llevamos de esta actividad?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Un punto de red = Jack + Faceplate + Canaleta + Cable UTP Cat6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019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Norma TIA 568B: el estándar más usado en instalaciones comerciales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23744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Punch-down: presionar y cortar en un golpe. Destrensar máximo 1,25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45536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Distancia máxima: 100 m por segmento (90 m fijo + 10 m patch cords)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6732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Patch Panel: central de organización de cables en el 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LAN Tester: 8 LEDs en orden → cable OK, fuera de orden → cruzado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1091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Etiquetar SIEMPRE con la norma TIA-606 en ambos extremos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32704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🔵  Rack: gabinete 19", altura en U (1U = 44,45 mm), separar 2U entre equipos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