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286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"/>
            <a:ext cx="73152" cy="66294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6600"/>
                </a:solidFill>
              </a:rPr>
              <a:t>Conectividad y Redes  |  Módulo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011680"/>
            <a:ext cx="11430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Actividad N°6: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2926080"/>
            <a:ext cx="11430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6600"/>
                </a:solidFill>
              </a:rPr>
              <a:t>Instalando Puntos de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41148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Instalación de redes de área local cableadas e inalámbricas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47548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D9D9D9"/>
                </a:solidFill>
              </a:rPr>
              <a:t>3° Medio  ·  Técnico Profesional  ·  Especialidad Conectividad y Redes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286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Objetivos de la Actividad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6600"/>
                </a:solidFill>
              </a:rPr>
              <a:t>Aprendizaje Esperado 1.3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✅  1.3.3 – Clasificar materiales, herramientas e implementos de seguridad para instalar cableado estructurado.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✅  1.3.4 – Instalar ductos y cableado según planos; etiquetar cables, conectores y tomas de red.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2608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✅  1.3.5 – Instalar racks, patch panels y puntos terminales de red respetando estándares técnicos.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4904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✅  1.3.6 – Realizar pruebas con LAN Tester para verificar la calidad de la instalación.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57200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✅  1.3.7 – Comunicar e informar los resultados generando documentación pertinente.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286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¿Qué es un Punto de Red?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6600"/>
                </a:solidFill>
              </a:rPr>
              <a:t>La conexión final entre el cableado y el usuario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Un punto de red es la toma o salida donde el usuario conecta su computador a la red de cableado estructurado del edificio.
Se compone de: Jack Keystone + Faceplate + Canaleta.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6600"/>
                </a:solidFill>
              </a:rPr>
              <a:t>💡 Ejemplo cotidiano: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Imagina que la red del colegio es como el tendido eléctrico de una casa:
el cable UTP sería el cable eléctrico dentro de la pared,
y el punto de red sería el enchufe en la pared que ves en cada sala.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1280160"/>
            <a:ext cx="3840480" cy="4114800"/>
          </a:xfrm>
          <a:prstGeom prst="rect">
            <a:avLst/>
          </a:prstGeom>
          <a:solidFill>
            <a:srgbClr val="2E4B7A"/>
          </a:solidFill>
          <a:ln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1371600"/>
            <a:ext cx="3657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🖥️  PC del alumno
         |
🔌  Patch Cord
         |
🔲  Jack Keystone (pared)
         |
📦  Cable UTP Cat6 (canaleta)
         |
🗂️  Patch Panel
         |
🔀  Switch → 🌐 Internet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286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Materiales y Herramientas Necesarias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6600"/>
                </a:solidFill>
              </a:rPr>
              <a:t>¿Qué necesitamos para instalar un punto de red?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34440"/>
          <a:ext cx="11274552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7276"/>
                <a:gridCol w="5637276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</a:rPr>
                        <a:t>Material / Herramienta</a:t>
                      </a:r>
                    </a:p>
                  </a:txBody>
                  <a:tcPr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</a:rPr>
                        <a:t>¿Para qué sirve?</a:t>
                      </a:r>
                    </a:p>
                  </a:txBody>
                  <a:tcPr>
                    <a:solidFill>
                      <a:srgbClr val="FF660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Cable UTP Cat6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Transmitir datos hasta 100 m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Jack Keystone RJ-45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Toma de red empotrable en la pared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Faceplate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Cubre el jack; da terminación prolija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Canaleta plástica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Protege y ordena los cables en la pared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Patch Panel 24 puertos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Organiza todas las llegadas de cable al rack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Herramienta Punch-Down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Presiona los cables en el jack o patch panel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Tijeras / Pelacable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Quitar la cubierta exterior del cable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LAN Tester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Probar que el cable está bien terminado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Etiquetas adhesivas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Identificar cada cable (estándar TIA)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286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Cable UTP Cat6 – Características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6600"/>
                </a:solidFill>
              </a:rPr>
              <a:t>El 'conductor' de los datos dentro del edificio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📏  Distancia máxima: 100 metros por segmento (estándar TIA-568)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🔢  8 conductores de cobre organizados en 4 pares trenzados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5176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⚡  Velocidad: hasta 10 Gbps (Cat6) – Cat5e solo llega a 1 Gbps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3756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🎨  Colores de pares: Azul / Naranja / Verde / Marrón (+ variante blanca)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02336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🔒  Sin blindaje en UTP (Unshielded Twisted Pair) – más económico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0916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🏭  Estándar: ANSI/TIA-568-C.2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12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FF6600"/>
                </a:solidFill>
              </a:rPr>
              <a:t>💡 Cat6 tiene un separador plástico central (cruceta) que reduce la interferencia entre pares.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286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Jack Keystone – ¿Qué es y cómo funciona?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6600"/>
                </a:solidFill>
              </a:rPr>
              <a:t>La pieza clave del punto de 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7132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El Jack Keystone es un módulo RJ-45 que se encaja (snap-in) en un faceplate o en el patch panel.
▶  Parte trasera: 8 ranuras donde se insertan los cables con la herramienta punch-down
▶  Parte frontal: conector RJ-45 hembra donde el usuario conecta su patch cord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200400"/>
            <a:ext cx="10972800" cy="2286000"/>
          </a:xfrm>
          <a:prstGeom prst="rect">
            <a:avLst/>
          </a:prstGeom>
          <a:solidFill>
            <a:srgbClr val="2E4B7A"/>
          </a:solidFill>
          <a:ln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29184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📌 Recuerda:
Los jacks son de colores o tienen etiquetas A/B para indicar la norma (568A o 568B).
Siempre usa la misma norma en AMBOS extremos del cable → si empiezas con 568B, termina con 568B.
Mezclar normas en los dos extremos crea un cable CRUZADO (útil para otros casos).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286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Norma TIA 568B – Tabla de Colores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6600"/>
                </a:solidFill>
              </a:rPr>
              <a:t>La norma más usada en Chile para instalaciones comerciales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74552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8638"/>
                <a:gridCol w="2818638"/>
                <a:gridCol w="2818638"/>
                <a:gridCol w="2818638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</a:rPr>
                        <a:t>Pin</a:t>
                      </a:r>
                    </a:p>
                  </a:txBody>
                  <a:tcPr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</a:rPr>
                        <a:t>Color</a:t>
                      </a:r>
                    </a:p>
                  </a:txBody>
                  <a:tcPr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</a:rPr>
                        <a:t>Par</a:t>
                      </a:r>
                    </a:p>
                  </a:txBody>
                  <a:tcPr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</a:rPr>
                        <a:t>Función</a:t>
                      </a:r>
                    </a:p>
                  </a:txBody>
                  <a:tcPr>
                    <a:solidFill>
                      <a:srgbClr val="FF66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Blanco-Naranja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TX+ (transmisión)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Naranja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TX- (transmisión)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Blanco-Verde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RX+ (recepción)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Azul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PoE / telefonía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Blanco-Azul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PoE / telefonía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Verde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RX- (recepción)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Blanco-Marrón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PoE / Gigabit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Marrón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PoE / Gigabit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577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6600"/>
                </a:solidFill>
              </a:rPr>
              <a:t>💡 TIA 568A invierte pares 2 y 3: Pin 1=Blanco-Verde, 2=Verde, 3=Blanco-Naranja, 6=Naranja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286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Herramienta Punch-Down – ¿Cómo usarla?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6600"/>
                </a:solidFill>
              </a:rPr>
              <a:t>La 'pistola' del instalador de 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La herramienta punch-down (impactadora) inserta y corta el cable conductor dentro de la ranura del jack o patch panel en un solo golpe.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834640"/>
            <a:ext cx="112745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1️⃣  Quitar aprox. 3 cm de cubierta exterior del cable sin dañar los pares.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401568"/>
            <a:ext cx="112745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2️⃣  Separar los 4 pares y ordenarlos según la norma del jack (A o B).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68496"/>
            <a:ext cx="112745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3️⃣  Insertar cada conductor en su ranura de color correspondiente.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535424"/>
            <a:ext cx="112745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4️⃣  Colocar la herramienta punch-down con el filo hacia AFUERA del jack.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102352"/>
            <a:ext cx="112745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5️⃣  Presionar firmemente hasta escuchar un 'click' – el cable queda sujeto y cortado.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669280"/>
            <a:ext cx="112745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⚠️  No destrenzes más de 1.25 cm de los pares – ¡afecta la calidad de la señal!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286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Paso a Paso: Instalación del Jack Keystone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6600"/>
                </a:solidFill>
              </a:rPr>
              <a:t>6 pasos para conectar un punto de red correctamente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1.  Mide y corta el cable UTP Cat6 dejando 30 cm de margen en la caja.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2.  Pela 3 cm de la cubierta exterior con el pelacable o tijera.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8892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3.  Ordena los 8 conductores según la norma TIA 568B (colores del jack).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2044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4.  Usa el punch-down para presionar cada cable en su ranura.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5196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5.  Ajusta el jack al faceplate y fija el faceplate a la caja.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98348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6.  Prueba con el LAN Tester – los 8 LEDs deben parpadear en orden.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286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Faceplate y Canaleta – Para qué sirven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6600"/>
                </a:solidFill>
              </a:rPr>
              <a:t>La 'terminación' profesional del punto de 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6600"/>
                </a:solidFill>
              </a:rPr>
              <a:t>🔲  Faceplate (placa de pared)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5303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• Marco plástico que cubre la caja empotrada.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21992"/>
            <a:ext cx="5303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• Acepta 1, 2 o 4 módulos keystone.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52344"/>
            <a:ext cx="5303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• Da terminación estética y profesional.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82696"/>
            <a:ext cx="5303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• Protege el jack del polvo y golpes.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2344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6600"/>
                </a:solidFill>
              </a:rPr>
              <a:t>📦  Canaleta de 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691640"/>
            <a:ext cx="5303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• Canal plástico que recorre paredes/cielo.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221992"/>
            <a:ext cx="5303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• Protege y ordena los cables UTP.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752344"/>
            <a:ext cx="5303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• Ancho varía según N° de cables (20x12 a 100x60 mm).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3282696"/>
            <a:ext cx="5303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• Cumple norma de cableado estructurado TIA-568.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0292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FF6600"/>
                </a:solidFill>
              </a:rPr>
              <a:t>💡 Para 24 puntos de red, una canaleta 40×25 mm suele ser suficiente. Para más puntos, usar 60×40 mm.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286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Conexión al Patch Panel – El Recorrido Completo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6600"/>
                </a:solidFill>
              </a:rPr>
              <a:t>Desde el computador del alumno hasta el switch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6600"/>
                </a:solidFill>
              </a:rPr>
              <a:t>El recorrido de la señal en una red con cableado estructurado: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783080"/>
            <a:ext cx="11430000" cy="493776"/>
          </a:xfrm>
          <a:prstGeom prst="rect">
            <a:avLst/>
          </a:prstGeom>
          <a:solidFill>
            <a:srgbClr val="2E4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600"/>
                </a:solidFill>
              </a:rPr>
              <a:t>🖥️  PC / Laptop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8288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Genera el tráfico de datos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13432"/>
            <a:ext cx="11430000" cy="49377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35915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600"/>
                </a:solidFill>
              </a:rPr>
              <a:t>🔌  Patch Cord (usuario)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359152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Cable corto RJ45 ↔ Jack de pared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843784"/>
            <a:ext cx="11430000" cy="493776"/>
          </a:xfrm>
          <a:prstGeom prst="rect">
            <a:avLst/>
          </a:prstGeom>
          <a:solidFill>
            <a:srgbClr val="2E4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88950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600"/>
                </a:solidFill>
              </a:rPr>
              <a:t>🔲  Jack Keystone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889504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Toma de red empotrada en la pared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374136"/>
            <a:ext cx="11430000" cy="49377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41985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600"/>
                </a:solidFill>
              </a:rPr>
              <a:t>📦  Cable UTP Cat6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419856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Recorre la canaleta hasta el rack (máx. 90 m)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904488"/>
            <a:ext cx="11430000" cy="493776"/>
          </a:xfrm>
          <a:prstGeom prst="rect">
            <a:avLst/>
          </a:prstGeom>
          <a:solidFill>
            <a:srgbClr val="2E4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950208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600"/>
                </a:solidFill>
              </a:rPr>
              <a:t>🗂️  Patch Panel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3950208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Organiza todas las llegadas de cable en el rack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434840"/>
            <a:ext cx="11430000" cy="49377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4805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600"/>
                </a:solidFill>
              </a:rPr>
              <a:t>🔌  Patch Cord (equipo)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448056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Cable corto Patch Panel ↔ Switch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965192"/>
            <a:ext cx="11430000" cy="493776"/>
          </a:xfrm>
          <a:prstGeom prst="rect">
            <a:avLst/>
          </a:prstGeom>
          <a:solidFill>
            <a:srgbClr val="2E4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501091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600"/>
                </a:solidFill>
              </a:rPr>
              <a:t>🔀  Switch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5010912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Conecta todos los equipos de la red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5495544"/>
            <a:ext cx="11430000" cy="49377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554126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600"/>
                </a:solidFill>
              </a:rPr>
              <a:t>🌐  Router / Internet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5541264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Salida hacia la red exterior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286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Rack / Armario – El corazón de la 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6600"/>
                </a:solidFill>
              </a:rPr>
              <a:t>Donde se concentra todo el equipamiento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6600"/>
                </a:solidFill>
              </a:rPr>
              <a:t>📦  ¿Qué es?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Gabinete metálico de 19" (estándar) que contiene:
• Switch(es)
• Patch panel
• Bandejas de cables
• UPS (respaldo eléctrico)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344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6600"/>
                </a:solidFill>
              </a:rPr>
              <a:t>📏  Medidas importantes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• 1 Unidad de Rack (1U) = 44,45 mm de alto
• Patch panel típico ocupa 1U
• Switch 24 puertos ocupa 1U
• Separación recomendada: 2U entre dispositivos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749039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6600"/>
                </a:solidFill>
              </a:rPr>
              <a:t>🔢  ¿Cuántos U necesito?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1605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Ejemplo para laboratorio con 24 PCs: 1U patch panel + 2U separación + 1U switch + 2U separación + 1U switch extra + 2U bandejas = aprox. 12U → usar rack de 16U o 22U.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286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Errores Comunes – ¡Qué NO Hacer!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6600"/>
                </a:solidFill>
              </a:rPr>
              <a:t>Aprende de los errores más frecuentes en instalación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1274552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❌  Mezclar norma 568A en un extremo y 568B en el otro (sin querer).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75104"/>
            <a:ext cx="11274552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❌  Pelar demasiado el cable → conductores expuestos = interferencia.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24328"/>
            <a:ext cx="11274552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❌  Destrensar más de 1.25 cm los pares → pérdida de señal a alta velocidad.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273552"/>
            <a:ext cx="11274552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❌  Doblar el cable en ángulo de 90° → aplasta los conductores y rompe el par.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922776"/>
            <a:ext cx="11274552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❌  No etiquetar el cable → confusión futura y tiempo perdido en diagnóstico.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11274552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❌  Superar los 100 m de cable → la señal se degrada y el tester fallará.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21224"/>
            <a:ext cx="11274552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❌  No testear antes de cerrar la pared → ¡descubierto demasiado tarde!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286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Cómo Probar el Punto de Red con LAN Tester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6600"/>
                </a:solidFill>
              </a:rPr>
              <a:t>La prueba de calidad antes de dar el trabajo por terminado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El LAN Tester mide la CONTINUIDAD de cada uno de los 8 pines del cable.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828800"/>
          <a:ext cx="11274552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8184"/>
                <a:gridCol w="3758184"/>
                <a:gridCol w="3758184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</a:rPr>
                        <a:t>LED N°</a:t>
                      </a:r>
                    </a:p>
                  </a:txBody>
                  <a:tcPr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</a:rPr>
                        <a:t>Pin / Color (568B)</a:t>
                      </a:r>
                    </a:p>
                  </a:txBody>
                  <a:tcPr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</a:rPr>
                        <a:t>¿Qué indica?</a:t>
                      </a:r>
                    </a:p>
                  </a:txBody>
                  <a:tcPr>
                    <a:solidFill>
                      <a:srgbClr val="FF660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Blanco-Naranja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Parpadea → OK  /  No parpadea → corte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Naranja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Parpadea → OK  /  No parpadea → corte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Blanco-Verde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Parpadea → OK  /  No parpadea → corte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Azul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Parpadea → OK  /  No parpadea → corte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Blanco-Azul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Parpadea → OK  /  No parpadea → corte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Verde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Parpadea → OK  /  No parpadea → corte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Blanco-Marrón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Parpadea → OK  /  No parpadea → corte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Marrón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Parpadea → OK  /  No parpadea → corte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FF6600"/>
                </a:solidFill>
              </a:rPr>
              <a:t>✅ Prueba exitosa: los 8 LEDs parpadean en orden (1-2-3-4-5-6-7-8). Si parpadean fuera de orden → cable cruzado.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286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Etiquetado de Cables – Norma TIA-606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6600"/>
                </a:solidFill>
              </a:rPr>
              <a:t>¿Por qué etiquetar? Porque sin orden no hay red que funcione bien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El estándar TIA-606 establece cómo identificar cada cable, puerto y dispositivo en una instalación de cableado estructurado. Un buen etiquetado ahorra horas de trabajo en diagnóstico y mantenimiento.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2286000"/>
          <a:ext cx="11274552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8184"/>
                <a:gridCol w="3758184"/>
                <a:gridCol w="3758184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</a:rPr>
                        <a:t>Elemento</a:t>
                      </a:r>
                    </a:p>
                  </a:txBody>
                  <a:tcPr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</a:rPr>
                        <a:t>Formato etiqueta</a:t>
                      </a:r>
                    </a:p>
                  </a:txBody>
                  <a:tcPr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</a:rPr>
                        <a:t>Ejemplo</a:t>
                      </a:r>
                    </a:p>
                  </a:txBody>
                  <a:tcPr>
                    <a:solidFill>
                      <a:srgbClr val="FF660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Cable de pared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SALA-PUNTO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LAB1-P03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Puerto patch panel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PP-SALA-N°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PP-LAB1-03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Puerto switch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SW-N°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SW-03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Jack de pared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SALA-PUNTO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LAB1-P03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Patch cord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ORIGEN→DESTINO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SW03→PP03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212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FF6600"/>
                </a:solidFill>
              </a:rPr>
              <a:t>⚠️  Etiquetar AMBOS extremos del cable. Usar cinta de etiquetado resistente o portaetiquetas.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286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Estudio de Caso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6600"/>
                </a:solidFill>
              </a:rPr>
              <a:t>Situación real: laboratorio de computación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Un establecimiento educacional ha adjudicado a tu empresa la instalación de una red de cableado estructurado horizontal para abastecer un laboratorio de computación.
La red se expande desde el armario/gabinete central hasta las áreas de trabajo de cada usuario.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834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6600"/>
                </a:solidFill>
              </a:rPr>
              <a:t>📋  Tareas asignadas: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91840"/>
            <a:ext cx="1127455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→  Montar switch y patch panel en el armario respetando 2U de separación.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95344"/>
            <a:ext cx="1127455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→  Construir 2 patch cords según normativa TIA/EIA-568.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498848"/>
            <a:ext cx="1127455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→  Instalar ductos y canaletas siguiendo el plano de 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102352"/>
            <a:ext cx="1127455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→  Conectar módulos RJ-45 (jacks) y user cords en cada punto de trabajo.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705856"/>
            <a:ext cx="1127455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→  Testar y etiquetar cada punto de red al finalizar.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286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Instrucciones de la Actividad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6600"/>
                </a:solidFill>
              </a:rPr>
              <a:t>Trabajo en clases – Realizando mis puntos de 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1.  Formen equipos de 3 integrantes.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2.  Armen un cable 'cruzado' y un cable 'derecho' con conectores RJ-45
     siguiendo normas TIA 568A y TIA 568B.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5176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3.  Muestren el cable al docente y compartan resultados con el curso.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3756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4.  Verifiquen el mapeado y continuidad del cable con el probador de cables.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02336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5.  Etiqueten ambos extremos según estándares internacionales.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0916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6.  Conecten los patch cords entre switch y patch panel del bastidor.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9496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7.  Dejen el lugar limpio y ordenado — ¡el orden es parte de la nota!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286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Entregables y Criterios de Evaluación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6600"/>
                </a:solidFill>
              </a:rPr>
              <a:t>Rúbrica de evaluación – Presentación de solución del caso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6600"/>
                </a:solidFill>
              </a:rPr>
              <a:t>📋  Tu presentación debe incluir: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a.  Argumentación técnica paso a paso de los procedimientos realizados.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b.  Descripción de infraestructura, herramientas y materiales utilizados.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97480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c.  Evidencia gráfica (fotos o diagramas) de los procedimientos.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00400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d.  Conclusión técnica grupal sobre el caso planteado.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200400"/>
          <a:ext cx="11274552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4910"/>
                <a:gridCol w="2254910"/>
                <a:gridCol w="2254910"/>
                <a:gridCol w="2254910"/>
                <a:gridCol w="2254912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</a:rPr>
                        <a:t>Indicador</a:t>
                      </a:r>
                    </a:p>
                  </a:txBody>
                  <a:tcPr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</a:rPr>
                        <a:t>Excelente (4)</a:t>
                      </a:r>
                    </a:p>
                  </a:txBody>
                  <a:tcPr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</a:rPr>
                        <a:t>Bueno (3)</a:t>
                      </a:r>
                    </a:p>
                  </a:txBody>
                  <a:tcPr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</a:rPr>
                        <a:t>Regular (2)</a:t>
                      </a:r>
                    </a:p>
                  </a:txBody>
                  <a:tcPr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FFFFFF"/>
                          </a:solidFill>
                        </a:rPr>
                        <a:t>Debe mejorar (1)</a:t>
                      </a:r>
                    </a:p>
                  </a:txBody>
                  <a:tcPr>
                    <a:solidFill>
                      <a:srgbClr val="FF660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Argumentación técnica procedimientos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100% de pasos argumentados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75% argumentados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50% argumentados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≤25% argumentados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Herramientas y materiales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Todos correctamente descritos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La mayoría correctos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Solo algunos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Descripción incorrecta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Evidencia gráfica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Fotos claras de todos los pasos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Fotos parciales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Pocas evidencias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Sin evidencias</a:t>
                      </a:r>
                    </a:p>
                  </a:txBody>
                  <a:tcPr>
                    <a:solidFill>
                      <a:srgbClr val="2E4B7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Conclusión técnica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Completa y fundamentada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Parcialmente fundamentada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Superficial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</a:rPr>
                        <a:t>Sin conclusión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286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Ticket de Salida – ¡Reflexionemos!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6600"/>
                </a:solidFill>
              </a:rPr>
              <a:t>Antes de salir, responde estas preguntas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1274552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1.  Para una red de 24 puntos de red, ¿qué canaleta recomendarías? ¿Por qué?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67128"/>
            <a:ext cx="11274552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2.  ¿Qué diferencia física tiene un cable UTP Cat6 vs Cat5e?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08376"/>
            <a:ext cx="11274552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3.  ¿Qué procedimiento te resultó más complejo en esta actividad?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9624"/>
            <a:ext cx="11274552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4.  ¿En qué situaciones de la vida real aplicarías estos conocimientos?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90872"/>
            <a:ext cx="11274552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5.  ¿Crees que podrías crear un emprendimiento con estas habilidades?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486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FF6600"/>
                </a:solidFill>
              </a:rPr>
              <a:t>💬  Puedes responder en Kahoot, Mentimeter, Padlet o Google Forms.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286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Resumen – Puntos Clave Aprendidos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6600"/>
                </a:solidFill>
              </a:rPr>
              <a:t>¿Qué nos llevamos de esta actividad?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455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🔵  Un punto de red = Jack + Faceplate + Canaleta + Cable UTP Cat6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01952"/>
            <a:ext cx="1127455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🔵  Norma TIA 568B: el estándar más usado en instalaciones comerciales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23744"/>
            <a:ext cx="1127455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🔵  Punch-down: presionar y cortar en un golpe. Destrensar máximo 1,25 cm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145536"/>
            <a:ext cx="1127455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🔵  Distancia máxima: 100 m por segmento (90 m fijo + 10 m patch cords)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767328"/>
            <a:ext cx="1127455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🔵  Patch Panel: central de organización de cables en el rack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389120"/>
            <a:ext cx="1127455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🔵  LAN Tester: 8 LEDs en orden → cable OK, fuera de orden → cruzado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010912"/>
            <a:ext cx="1127455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🔵  Etiquetar SIEMPRE con la norma TIA-606 en ambos extremos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632704"/>
            <a:ext cx="1127455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🔵  Rack: gabinete 19", altura en U (1U = 44,45 mm), separar 2U entre equipos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