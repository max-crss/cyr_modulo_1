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12188952" cy="1920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Cableado Estructurado
y Servidores en Packet Tracer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37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Instalacion de Redes  |  3 Medio TP Conectividad y Redes
Martes 11:30 – 12:45 (75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Cisco Packet Tracer  •  Topologia Fisica  •  Sin configuracion 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76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Objetivos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OK  Repasar el Modelo OSI en la capa fisica y los equipos conocidos (Switch 2960, Router 2911).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OK  Aprender que es un servidor y como se conecta fisicamente en Packet Tracer.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OK  Comprender el cableado estructurado: Patch Panel, Wall Mounts, Punch Down.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OK  Disenar una topologia fisica completa de oficina (SIN configurar IP).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OK  Documentar el cableado mediante una tabla de Punch Down.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943600"/>
            <a:ext cx="11430000" cy="64008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96188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55A11"/>
                </a:solidFill>
                <a:latin typeface="Calibri"/>
              </a:rPr>
              <a:t>IMPORTANTE: En esta clase NO configuraremos IP. Solo topologia FISICA.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06040"/>
            <a:ext cx="12188952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80360"/>
            <a:ext cx="12188952" cy="508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SECCION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Repaso: Modelo OSI en la Topologia Fisica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76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Modelo OSI – Capas relevantes para redes fisicas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731520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1412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Capa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188720"/>
            <a:ext cx="2011680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2141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Nombre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188720"/>
            <a:ext cx="8686800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1214120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Componentes fisicos en la 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54480"/>
            <a:ext cx="731520" cy="749808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579880"/>
            <a:ext cx="640080" cy="699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1554480"/>
            <a:ext cx="2011680" cy="749808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1579880"/>
            <a:ext cx="1920240" cy="699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Fisica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1554480"/>
            <a:ext cx="8686800" cy="749808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1579880"/>
            <a:ext cx="8595360" cy="699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Cables UTP, conectores RJ-45, patch panels, wall mounts, rack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304288"/>
            <a:ext cx="731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329688"/>
            <a:ext cx="640080" cy="699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2304288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2329688"/>
            <a:ext cx="1920240" cy="699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Enlace de Datos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2304288"/>
            <a:ext cx="8686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54680" y="2329688"/>
            <a:ext cx="8595360" cy="699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Switch Cisco 2960 (direcciones MAC)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054096"/>
            <a:ext cx="731520" cy="749808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079496"/>
            <a:ext cx="640080" cy="699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3054096"/>
            <a:ext cx="2011680" cy="749808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3079496"/>
            <a:ext cx="1920240" cy="699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Red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0" y="3054096"/>
            <a:ext cx="8686800" cy="749808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54680" y="3079496"/>
            <a:ext cx="8595360" cy="699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Router Cisco 2911 (direcciones IP – proxima clase)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803904"/>
            <a:ext cx="731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829304"/>
            <a:ext cx="640080" cy="699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4-7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7280" y="3803904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829304"/>
            <a:ext cx="1920240" cy="699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Transporte/App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0" y="3803904"/>
            <a:ext cx="8686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54680" y="3829304"/>
            <a:ext cx="8595360" cy="699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Servicios del servidor (HTTP, DNS, DHCP – proximas clases)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6692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Hoy trabajamos en Capa 1 y parte de Capa 2 (conexion fisica de Switch).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76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Modelo TCP/IP vs OSI – Comparacion rapida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200400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141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Modelo OSI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188720"/>
            <a:ext cx="2743200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2141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Modelo TCP/IP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486400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141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Que vemos en PT hoy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54480"/>
            <a:ext cx="3200400" cy="694944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579880"/>
            <a:ext cx="3108960" cy="6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Fisica + Enlace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1554480"/>
            <a:ext cx="2743200" cy="694944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579880"/>
            <a:ext cx="2651760" cy="6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Acceso a 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554480"/>
            <a:ext cx="5486400" cy="694944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579880"/>
            <a:ext cx="5394960" cy="6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Cables, switch, patch panel, wall mount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249424"/>
            <a:ext cx="32004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274824"/>
            <a:ext cx="3108960" cy="6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2249424"/>
            <a:ext cx="27432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2274824"/>
            <a:ext cx="2651760" cy="6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Internet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249424"/>
            <a:ext cx="54864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274824"/>
            <a:ext cx="5394960" cy="6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Router (proxima clase)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944368"/>
            <a:ext cx="3200400" cy="694944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969768"/>
            <a:ext cx="3108960" cy="6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Transporte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2944368"/>
            <a:ext cx="2743200" cy="694944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80" y="2969768"/>
            <a:ext cx="2651760" cy="6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Transporte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944368"/>
            <a:ext cx="5486400" cy="694944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969768"/>
            <a:ext cx="5394960" cy="6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TCP/UDP (proximas clases)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639312"/>
            <a:ext cx="32004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664712"/>
            <a:ext cx="3108960" cy="6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Sesion/Present/App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66160" y="3639312"/>
            <a:ext cx="27432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1880" y="3664712"/>
            <a:ext cx="2651760" cy="6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Aplicacion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639312"/>
            <a:ext cx="54864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3664712"/>
            <a:ext cx="5394960" cy="6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HTTP, DNS, DHCP en servidor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3949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Recuerda: el switch opera en Capa 2 (MAC) y el router en Capa 3 (IP).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76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Repaso: Equipos que ya conocemos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48640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14120"/>
            <a:ext cx="5303520" cy="36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Switch Cisco 2960 – Capa 2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5486400" cy="2148840"/>
          </a:xfrm>
          <a:prstGeom prst="rect">
            <a:avLst/>
          </a:prstGeom>
          <a:solidFill>
            <a:srgbClr val="D9E2F3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51000"/>
            <a:ext cx="5212080" cy="204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• 24-48 puertos FastEthernet + 2 Gigabit
• Conecta dispositivos en la misma LAN
• Opera con direcciones MAC
• En PT: Network Devices &gt; Switches &gt; 2960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48640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214120"/>
            <a:ext cx="5303520" cy="36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Router Cisco 2911 – Capa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00200"/>
            <a:ext cx="5486400" cy="2148840"/>
          </a:xfrm>
          <a:prstGeom prst="rect">
            <a:avLst/>
          </a:prstGeom>
          <a:solidFill>
            <a:srgbClr val="D9E2F3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51000"/>
            <a:ext cx="5212080" cy="204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• 3 interfaces GigabitEthernet
• Interconecta redes diferentes
• Opera con direcciones IP
• En PT: Network Devices &gt; Routers &gt; 2911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31920"/>
            <a:ext cx="11338560" cy="411480"/>
          </a:xfrm>
          <a:prstGeom prst="rect">
            <a:avLst/>
          </a:prstGeom>
          <a:solidFill>
            <a:srgbClr val="378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957320"/>
            <a:ext cx="11155680" cy="36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Dispositivos Finales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343400"/>
            <a:ext cx="11338560" cy="1417320"/>
          </a:xfrm>
          <a:prstGeom prst="rect">
            <a:avLst/>
          </a:prstGeom>
          <a:solidFill>
            <a:srgbClr val="D9E2F3"/>
          </a:solidFill>
          <a:ln w="12700">
            <a:solidFill>
              <a:srgbClr val="378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394200"/>
            <a:ext cx="11064240" cy="131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• PC, Laptop, Impresora de red
• Se conectan al switch mediante Copper Straight-Through
• En PT: End Devices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76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Cable Copper Straight-Through – El cable que usamos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>
                <a:solidFill>
                  <a:srgbClr val="262626"/>
                </a:solidFill>
                <a:latin typeface="Calibri"/>
              </a:rPr>
              <a:t>•  Ambos extremos usan el mismo orden de pares (568B – 568B).</a:t>
            </a:r>
          </a:p>
          <a:p>
            <a:pPr algn="l">
              <a:spcAft>
                <a:spcPts val="400"/>
              </a:spcAft>
            </a:pPr>
            <a:r>
              <a:rPr sz="1700">
                <a:solidFill>
                  <a:srgbClr val="262626"/>
                </a:solidFill>
                <a:latin typeface="Calibri"/>
              </a:rPr>
              <a:t>•  Se usa para conectar dispositivos DIFERENTES: PC-Switch, Servidor-Switch, Router-Switch.</a:t>
            </a:r>
          </a:p>
          <a:p>
            <a:pPr algn="l">
              <a:spcAft>
                <a:spcPts val="400"/>
              </a:spcAft>
            </a:pPr>
            <a:r>
              <a:rPr sz="1700">
                <a:solidFill>
                  <a:srgbClr val="262626"/>
                </a:solidFill>
                <a:latin typeface="Calibri"/>
              </a:rPr>
              <a:t>•  Es el cable por defecto en Packet Tracer para la mayoria de conexiones.</a:t>
            </a:r>
          </a:p>
          <a:p>
            <a:pPr algn="l">
              <a:spcAft>
                <a:spcPts val="400"/>
              </a:spcAft>
            </a:pPr>
            <a:r>
              <a:rPr sz="1700">
                <a:solidFill>
                  <a:srgbClr val="262626"/>
                </a:solidFill>
                <a:latin typeface="Calibri"/>
              </a:rPr>
              <a:t>•  Cuando la conexion es correcta: el indicador del puerto se pone VERDE.</a:t>
            </a:r>
          </a:p>
          <a:p>
            <a:pPr algn="l">
              <a:spcAft>
                <a:spcPts val="400"/>
              </a:spcAft>
            </a:pPr>
            <a:r>
              <a:rPr sz="1700">
                <a:solidFill>
                  <a:srgbClr val="262626"/>
                </a:solidFill>
                <a:latin typeface="Calibri"/>
              </a:rPr>
              <a:t>•  Si aparece ROJO: verifica que el tipo de cable sea el correcto.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0" y="1188720"/>
            <a:ext cx="3017520" cy="4572000"/>
          </a:xfrm>
          <a:prstGeom prst="rect">
            <a:avLst/>
          </a:prstGeom>
          <a:solidFill>
            <a:srgbClr val="D9E2F3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1280160"/>
            <a:ext cx="2834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4E79"/>
                </a:solidFill>
                <a:latin typeface="Calibri"/>
              </a:rPr>
              <a:t>568B – 568B
Par 1: Blanco-Naranja / Naranja
Par 2: Blanco-Verde / Azul
Par 3: Blanco-Azul / Verde
Par 4: Blanco-Marron / Marron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06040"/>
            <a:ext cx="12188952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80360"/>
            <a:ext cx="12188952" cy="508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SECCION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Servidores – Nuevo contenido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76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Que es un Servidor?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1463040"/>
          </a:xfrm>
          <a:prstGeom prst="rect">
            <a:avLst/>
          </a:prstGeom>
          <a:solidFill>
            <a:srgbClr val="D9E2F3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F4E79"/>
                </a:solidFill>
                <a:latin typeface="Calibri"/>
              </a:rPr>
              <a:t>Un servidor es un computador especializado que OFRECE servicios y recursos a otros computadores (clientes) dentro de la red. Funciona 24/7.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834640"/>
            <a:ext cx="3200400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86004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Caracteristica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2834640"/>
            <a:ext cx="8229600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860040"/>
            <a:ext cx="8138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Detalle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00400"/>
            <a:ext cx="3200400" cy="457200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225800"/>
            <a:ext cx="310896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Disponibilidad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3200400"/>
            <a:ext cx="8229600" cy="457200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3225800"/>
            <a:ext cx="813816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24 horas / 7 dias de la semana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5760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683000"/>
            <a:ext cx="310896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Procesamiento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3657600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80" y="3683000"/>
            <a:ext cx="813816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CPU y RAM de mayor capacidad que un PC normal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14800"/>
            <a:ext cx="3200400" cy="457200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140200"/>
            <a:ext cx="310896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Almacenamiento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4114800"/>
            <a:ext cx="8229600" cy="457200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4140200"/>
            <a:ext cx="813816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Discos en RAID para tolerancia a fallos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57200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597400"/>
            <a:ext cx="310896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Conectividad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4572000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80" y="4597400"/>
            <a:ext cx="813816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1 o mas interfaces de red (NIC)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029200"/>
            <a:ext cx="3200400" cy="457200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054600"/>
            <a:ext cx="310896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Sistema Operativo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6160" y="5029200"/>
            <a:ext cx="8229600" cy="457200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1880" y="5054600"/>
            <a:ext cx="813816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Windows Server, Linux (Ubuntu Server, CentOS)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48640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5511800"/>
            <a:ext cx="310896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En Packet Tracer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66160" y="5486400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11880" y="5511800"/>
            <a:ext cx="813816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End Devices &gt; Server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76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Tipos de Servidores en Packet Tracer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48640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14120"/>
            <a:ext cx="5303520" cy="36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Servidor Web (HTTP)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5486400" cy="1600200"/>
          </a:xfrm>
          <a:prstGeom prst="rect">
            <a:avLst/>
          </a:prstGeom>
          <a:solidFill>
            <a:srgbClr val="D9E2F3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51000"/>
            <a:ext cx="5212080" cy="149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• Aloja paginas web
• Responde a peticiones HTTP/HTTPS
• Los clientes 'navegan' hacia el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48640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214120"/>
            <a:ext cx="5303520" cy="36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Servidor DNS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00200"/>
            <a:ext cx="5486400" cy="1600200"/>
          </a:xfrm>
          <a:prstGeom prst="rect">
            <a:avLst/>
          </a:prstGeom>
          <a:solidFill>
            <a:srgbClr val="D9E2F3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51000"/>
            <a:ext cx="5212080" cy="149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• Traduce nombres a IP (www.sitio.com -&gt; 192.168.1.x)
• Necesario para navegar por nombre
• Sin DNS, solo se puede usar IP directa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83280"/>
            <a:ext cx="5486400" cy="411480"/>
          </a:xfrm>
          <a:prstGeom prst="rect">
            <a:avLst/>
          </a:prstGeom>
          <a:solidFill>
            <a:srgbClr val="378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408680"/>
            <a:ext cx="5303520" cy="36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Servidor DHCP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94760"/>
            <a:ext cx="5486400" cy="1600200"/>
          </a:xfrm>
          <a:prstGeom prst="rect">
            <a:avLst/>
          </a:prstGeom>
          <a:solidFill>
            <a:srgbClr val="D9E2F3"/>
          </a:solidFill>
          <a:ln w="12700">
            <a:solidFill>
              <a:srgbClr val="378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45560"/>
            <a:ext cx="5212080" cy="149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• Asigna IP automaticamente a los clientes
• Los clientes se configuran solos
• LO CONFIGURAREMOS EN LA PROXIMA CLASE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383280"/>
            <a:ext cx="5486400" cy="411480"/>
          </a:xfrm>
          <a:prstGeom prst="rect">
            <a:avLst/>
          </a:prstGeom>
          <a:solidFill>
            <a:srgbClr val="378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408680"/>
            <a:ext cx="5303520" cy="36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Servidor de Archivos (FTP)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794760"/>
            <a:ext cx="5486400" cy="1600200"/>
          </a:xfrm>
          <a:prstGeom prst="rect">
            <a:avLst/>
          </a:prstGeom>
          <a:solidFill>
            <a:srgbClr val="D9E2F3"/>
          </a:solidFill>
          <a:ln w="12700">
            <a:solidFill>
              <a:srgbClr val="378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845560"/>
            <a:ext cx="5212080" cy="149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• Almacena documentos compartidos
• Control de acceso por usuario
• Uso comun en empresas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6235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55A11"/>
                </a:solidFill>
                <a:latin typeface="Calibri"/>
              </a:rPr>
              <a:t>NOTA: En esta clase solo los CONECTAMOS. La configuracion de servicios es la proxima clase.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76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Como conectar un Servidor en Packet Tracer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02920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25984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1234440"/>
            <a:ext cx="10698480" cy="658368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28524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Calibri"/>
              </a:rPr>
              <a:t>End Devices: Panel inferior -&gt; End Devices -&gt; Arrastra 'Server' al area de trabajo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48840"/>
            <a:ext cx="502920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17424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148840"/>
            <a:ext cx="10698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19964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Calibri"/>
              </a:rPr>
              <a:t>Etiquetar: Doble clic en el servidor -&gt; escribe: Servidor_Web, Servidor_DNS, etc.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63240"/>
            <a:ext cx="502920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308864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3063240"/>
            <a:ext cx="10698480" cy="658368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11404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Calibri"/>
              </a:rPr>
              <a:t>Cable: Herramienta Cable (rayo) -&gt; Copper Straight-Through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77640"/>
            <a:ext cx="502920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400304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3977640"/>
            <a:ext cx="10698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02844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Calibri"/>
              </a:rPr>
              <a:t>Conectar: Clic en Servidor (FastEthernet0) -&gt; Clic en Switch (Fa0/24 u otro libre)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892040"/>
            <a:ext cx="502920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491744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4892040"/>
            <a:ext cx="10698480" cy="658368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94284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Calibri"/>
              </a:rPr>
              <a:t>Verificar: Ambos extremos del cable deben verse en VERDE (enlace activo)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943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55A11"/>
                </a:solidFill>
                <a:latin typeface="Calibri"/>
              </a:rPr>
              <a:t>Servidores se conectan DIRECTO al switch (no pasan por patch panel)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06040"/>
            <a:ext cx="12188952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80360"/>
            <a:ext cx="12188952" cy="508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SECCION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Cableado Estructurado – Nuevo contenido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76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Que es el Cableado Estructurado?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1280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Sistema estandarizado y DOCUMENTADO de cables y componentes que crea una infraestructura ordenada y predecible para conectar dispositivos en un edificio.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651760"/>
            <a:ext cx="5394960" cy="411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677160"/>
            <a:ext cx="5212080" cy="36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Sin cableado estructurado (caos)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063240"/>
            <a:ext cx="5394960" cy="2697480"/>
          </a:xfrm>
          <a:prstGeom prst="rect">
            <a:avLst/>
          </a:prstGeom>
          <a:solidFill>
            <a:srgbClr val="D9E2F3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114040"/>
            <a:ext cx="5120640" cy="259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• Cables sin etiquetas: nadie sabe que va a donde
• Falla un cable: busqueda de horas o dias
• Agregar un equipo: nuevo cable desde el inicio
• Resultado: caos, tiempo perdido, costos altos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651760"/>
            <a:ext cx="5394960" cy="411480"/>
          </a:xfrm>
          <a:prstGeom prst="rect">
            <a:avLst/>
          </a:prstGeom>
          <a:solidFill>
            <a:srgbClr val="378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677160"/>
            <a:ext cx="5212080" cy="36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Con cableado estructurado (orden)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063240"/>
            <a:ext cx="5394960" cy="2697480"/>
          </a:xfrm>
          <a:prstGeom prst="rect">
            <a:avLst/>
          </a:prstGeom>
          <a:solidFill>
            <a:srgbClr val="D9E2F3"/>
          </a:solidFill>
          <a:ln w="12700">
            <a:solidFill>
              <a:srgbClr val="378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114040"/>
            <a:ext cx="5120640" cy="259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• Cada cable tiene nombre y destino conocidos
• Falla un cable: se identifica en minutos con la tabla
• Agregar equipo: enchufar en el wall mount mas cercano
• Estandares internacionales garantizan compatibilidad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76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Estandares TIA/EIA 568 – Por que importan?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4E79"/>
                </a:solidFill>
                <a:latin typeface="Calibri"/>
              </a:rPr>
              <a:t>Los estandares TIA/EIA 568A y 568B definen el orden de los pares dentro del conector RJ-45.
Garantizan que los cables fabricados en cualquier pais sean compatibles entre si.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651760"/>
            <a:ext cx="2286000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6771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Estandar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2651760"/>
            <a:ext cx="2743200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26771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Tipo de cable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2651760"/>
            <a:ext cx="6400800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2677160"/>
            <a:ext cx="6309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Uso comun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17520"/>
            <a:ext cx="2286000" cy="640080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042920"/>
            <a:ext cx="2194560" cy="58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568B – 568B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3017520"/>
            <a:ext cx="2743200" cy="640080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3042920"/>
            <a:ext cx="2651760" cy="58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Straight-Through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3017520"/>
            <a:ext cx="6400800" cy="640080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0680" y="3042920"/>
            <a:ext cx="6309360" cy="58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PC-&gt;Switch, Servidor-&gt;Switch, Router-&gt;Switch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57600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683000"/>
            <a:ext cx="2194560" cy="58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568A – 568B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3657600"/>
            <a:ext cx="27432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80" y="3683000"/>
            <a:ext cx="2651760" cy="58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Crossover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3657600"/>
            <a:ext cx="6400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0680" y="3683000"/>
            <a:ext cx="6309360" cy="58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Switch-&gt;Switch legacy (equipos modernos auto-detectan)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297680"/>
            <a:ext cx="2286000" cy="640080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323080"/>
            <a:ext cx="2194560" cy="58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568A – 568A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1760" y="4297680"/>
            <a:ext cx="2743200" cy="640080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97480" y="4323080"/>
            <a:ext cx="2651760" cy="58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Straight-Through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94960" y="4297680"/>
            <a:ext cx="6400800" cy="640080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40680" y="4323080"/>
            <a:ext cx="6309360" cy="58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Igual que 568B-568B, menos comun en America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7607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78623"/>
                </a:solidFill>
                <a:latin typeface="Calibri"/>
              </a:rPr>
              <a:t>En esta clase: TODO Straight-Through (568B – 568B)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76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Componente 1: RACK – El armario de la 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685800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14120"/>
            <a:ext cx="6675120" cy="36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Que es el Rack?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6858000" cy="3703320"/>
          </a:xfrm>
          <a:prstGeom prst="rect">
            <a:avLst/>
          </a:prstGeom>
          <a:solidFill>
            <a:srgbClr val="D9E2F3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51000"/>
            <a:ext cx="6583680" cy="360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• Estructura metalica de 19 pulgadas (estandar internacional)
• Organiza verticalmente todos los equipos activos de la red
• Facilita la gestion, mantenimiento y ventilacion
• Contiene: Router, Switch, Patch Panel, Servidores
• En Packet Tracer: visible en el area de trabajo como modulo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188720"/>
            <a:ext cx="4297680" cy="5029200"/>
          </a:xfrm>
          <a:prstGeom prst="rect">
            <a:avLst/>
          </a:prstGeom>
          <a:solidFill>
            <a:srgbClr val="D0D0D0"/>
          </a:solidFill>
          <a:ln w="254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28016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Courier New"/>
              </a:rPr>
              <a:t>[ RACK ]
[  Router 2911  ]
[  Switch 2960  ]
[ Patch Panel  ]
[ Servidor Web ]
[ Servidor DNS 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76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Componente 2: PATCH PANEL – Central del cableado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4E79"/>
                </a:solidFill>
                <a:latin typeface="Calibri"/>
              </a:rPr>
              <a:t>El Patch Panel actua como la 'central telefonica' de la red: todos los cables de las paredes llegan aqui y desde aqui se conectan al switch con cables cortos.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331720"/>
            <a:ext cx="548640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57120"/>
            <a:ext cx="5303520" cy="36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Caracteristicas del Patch Panel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743200"/>
            <a:ext cx="5486400" cy="2788920"/>
          </a:xfrm>
          <a:prstGeom prst="rect">
            <a:avLst/>
          </a:prstGeom>
          <a:solidFill>
            <a:srgbClr val="D9E2F3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794000"/>
            <a:ext cx="5212080" cy="268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• Tipicamente 24 o 48 puertos RJ-45
• Cables de la pared entran por ATRAS (lado de distribucion)
• Patch cables cortos salen por ADELANTE hacia el switch
• En PT: Network Devices &gt; Connections &gt; Patch Panel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331720"/>
            <a:ext cx="5486400" cy="411480"/>
          </a:xfrm>
          <a:prstGeom prst="rect">
            <a:avLst/>
          </a:prstGeom>
          <a:solidFill>
            <a:srgbClr val="378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357120"/>
            <a:ext cx="5303520" cy="36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Tecnica Punch Down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743200"/>
            <a:ext cx="5486400" cy="2788920"/>
          </a:xfrm>
          <a:prstGeom prst="rect">
            <a:avLst/>
          </a:prstGeom>
          <a:solidFill>
            <a:srgbClr val="D9E2F3"/>
          </a:solidFill>
          <a:ln w="12700">
            <a:solidFill>
              <a:srgbClr val="378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794000"/>
            <a:ext cx="5212080" cy="268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• Puerto 1 = Wall Mount 1 = Oficina 1
• Puerto 2 = Wall Mount 2 = Oficina 2
• Numeracion ascendente: 1, 2, 3, 4...
• Documenta SIEMPRE en tabla de punch down
• Facilita troubleshooting y cambios futuros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7150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Diagrama: Switch &lt;-&gt; Patch Panel &lt;-&gt; (cable en pared) &lt;-&gt; Wall Mount &lt;-&gt; Dispositivo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76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Patch Panel en Packet Tracer – Paso a paso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02920" cy="6217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259840"/>
            <a:ext cx="457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1234440"/>
            <a:ext cx="10698480" cy="621792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285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Agregar: Network Devices &gt; Connections &gt; Patch Panel (24-Port)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29968"/>
            <a:ext cx="502920" cy="6217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055368"/>
            <a:ext cx="457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029968"/>
            <a:ext cx="10698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807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Posicion: Coloca el patch panel en el rack, encima del switch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25496"/>
            <a:ext cx="502920" cy="6217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850896"/>
            <a:ext cx="457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2825496"/>
            <a:ext cx="10698480" cy="621792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87629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Etiquetar: Doble clic -&gt; nombre: Patch_Panel_Principal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621024"/>
            <a:ext cx="502920" cy="6217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646424"/>
            <a:ext cx="457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3621024"/>
            <a:ext cx="10698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67182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Conectar al Switch: Straight-Through: Puerto adelante (Fa0/X) del PP -&gt; Puerto del Switch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416552"/>
            <a:ext cx="502920" cy="6217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4441952"/>
            <a:ext cx="457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4416552"/>
            <a:ext cx="10698480" cy="621792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4673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Conectar a Wall Mounts: Straight-Through: Puerto trasero (Port X) del PP -&gt; Wall Mount 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212080"/>
            <a:ext cx="502920" cy="6217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5237480"/>
            <a:ext cx="457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" y="5212080"/>
            <a:ext cx="10698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262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Orden: Puerto PP 1 -&gt; WM Oficina 1 | PP 2 -&gt; WM Oficina 2 | PP 3 -&gt; WM Reuniones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76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Componente 3: COPPER WALL MOUNT – Toma de pared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4E79"/>
                </a:solidFill>
                <a:latin typeface="Calibri"/>
              </a:rPr>
              <a:t>El Copper Wall Mount es el punto de conexion en la pared donde el usuario final conecta su dispositivo. Internamente esta conectado al patch panel.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331720"/>
            <a:ext cx="548640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57120"/>
            <a:ext cx="5303520" cy="36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Por que usar Wall Mounts?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743200"/>
            <a:ext cx="5486400" cy="2788920"/>
          </a:xfrm>
          <a:prstGeom prst="rect">
            <a:avLst/>
          </a:prstGeom>
          <a:solidFill>
            <a:srgbClr val="D9E2F3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794000"/>
            <a:ext cx="5212080" cy="268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• Evita cables sueltos por el suelo (seguridad)
• Permite reubicar dispositivos sin tocar el cableado de la pared
• Aspecto profesional y ordenado
• Facilita el reemplazo de dispositivos
• En PT: Connections &gt; Copper Wall Mount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331720"/>
            <a:ext cx="5486400" cy="411480"/>
          </a:xfrm>
          <a:prstGeom prst="rect">
            <a:avLst/>
          </a:prstGeom>
          <a:solidFill>
            <a:srgbClr val="378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357120"/>
            <a:ext cx="5303520" cy="36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Instalacion en Packet Tracer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743200"/>
            <a:ext cx="5486400" cy="2788920"/>
          </a:xfrm>
          <a:prstGeom prst="rect">
            <a:avLst/>
          </a:prstGeom>
          <a:solidFill>
            <a:srgbClr val="D9E2F3"/>
          </a:solidFill>
          <a:ln w="12700">
            <a:solidFill>
              <a:srgbClr val="378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794000"/>
            <a:ext cx="5212080" cy="268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• Coloca cada WM en el area que representa (Oficina 1, Oficina 2, etc.)
• Etiqueta: WM_Oficina1, WM_Oficina2, WM_Reuniones
• Conecta con Straight-Through al puerto trasero del Patch Panel
• Luego conecta el dispositivo final al WM con Straight-Through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76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Tecnica Punch Down – Numeracion y documentacion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011680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141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Puerto Patch Panel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188720"/>
            <a:ext cx="2286000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20" y="121412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Wall Mount (Destino)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188720"/>
            <a:ext cx="2286000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21412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Ubicacion Fisica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188720"/>
            <a:ext cx="2743200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12141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Dispositivo Final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1188720"/>
            <a:ext cx="2286000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46920" y="121412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Estado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554480"/>
            <a:ext cx="2011680" cy="535577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579880"/>
            <a:ext cx="1920240" cy="484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Puerto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1554480"/>
            <a:ext cx="2286000" cy="535577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31720" y="1579880"/>
            <a:ext cx="2194560" cy="484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WM Oficina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554480"/>
            <a:ext cx="2286000" cy="535577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1579880"/>
            <a:ext cx="2194560" cy="484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Pared Sur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1554480"/>
            <a:ext cx="2743200" cy="535577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79880"/>
            <a:ext cx="2651760" cy="484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PC Escritorio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1554480"/>
            <a:ext cx="2286000" cy="535577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46920" y="1579880"/>
            <a:ext cx="2194560" cy="484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Activo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090057"/>
            <a:ext cx="2011680" cy="535577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115457"/>
            <a:ext cx="1920240" cy="484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Puerto 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0" y="2090057"/>
            <a:ext cx="2286000" cy="535577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31720" y="2115457"/>
            <a:ext cx="2194560" cy="484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WM Oficina 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2090057"/>
            <a:ext cx="2286000" cy="535577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2115457"/>
            <a:ext cx="2194560" cy="484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Pared Sur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2090057"/>
            <a:ext cx="2743200" cy="535577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03720" y="2115457"/>
            <a:ext cx="2651760" cy="484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Laptop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0" y="2090057"/>
            <a:ext cx="2286000" cy="535577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46920" y="2115457"/>
            <a:ext cx="2194560" cy="484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Activo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625634"/>
            <a:ext cx="2011680" cy="535577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2651034"/>
            <a:ext cx="1920240" cy="484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Puerto 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0" y="2625634"/>
            <a:ext cx="2286000" cy="535577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31720" y="2651034"/>
            <a:ext cx="2194560" cy="484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WM Reuniones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2625634"/>
            <a:ext cx="2286000" cy="535577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17720" y="2651034"/>
            <a:ext cx="2194560" cy="484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Pared Este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2625634"/>
            <a:ext cx="2743200" cy="535577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03720" y="2651034"/>
            <a:ext cx="2651760" cy="484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Impresora Red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01200" y="2625634"/>
            <a:ext cx="2286000" cy="535577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46920" y="2651034"/>
            <a:ext cx="2194560" cy="484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Activo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161211"/>
            <a:ext cx="2011680" cy="535577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3186611"/>
            <a:ext cx="1920240" cy="484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Puerto 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0" y="3161211"/>
            <a:ext cx="2286000" cy="535577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31720" y="3186611"/>
            <a:ext cx="2194560" cy="484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WM Almacen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3161211"/>
            <a:ext cx="2286000" cy="535577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17720" y="3186611"/>
            <a:ext cx="2194560" cy="484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Pared Norte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0" y="3161211"/>
            <a:ext cx="2743200" cy="535577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03720" y="3186611"/>
            <a:ext cx="2651760" cy="484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PC Escritorio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01200" y="3161211"/>
            <a:ext cx="2286000" cy="535577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46920" y="3186611"/>
            <a:ext cx="2194560" cy="484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Activo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696788"/>
            <a:ext cx="2011680" cy="535577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3722188"/>
            <a:ext cx="1920240" cy="484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Puerto 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0" y="3696788"/>
            <a:ext cx="2286000" cy="535577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31720" y="3722188"/>
            <a:ext cx="2194560" cy="484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WM Recepcion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0" y="3696788"/>
            <a:ext cx="2286000" cy="535577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17720" y="3722188"/>
            <a:ext cx="2194560" cy="484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Pared Oeste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58000" y="3696788"/>
            <a:ext cx="2743200" cy="535577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03720" y="3722188"/>
            <a:ext cx="2651760" cy="484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Laptop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601200" y="3696788"/>
            <a:ext cx="2286000" cy="535577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46920" y="3722188"/>
            <a:ext cx="2194560" cy="484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Activo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4232365"/>
            <a:ext cx="2011680" cy="535577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4257765"/>
            <a:ext cx="1920240" cy="484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Puerto 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0" y="4232365"/>
            <a:ext cx="2286000" cy="535577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331720" y="4257765"/>
            <a:ext cx="2194560" cy="484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Reservado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0" y="4232365"/>
            <a:ext cx="2286000" cy="535577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17720" y="4257765"/>
            <a:ext cx="2194560" cy="484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-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858000" y="4232365"/>
            <a:ext cx="2743200" cy="535577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903720" y="4257765"/>
            <a:ext cx="2651760" cy="484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-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601200" y="4232365"/>
            <a:ext cx="2286000" cy="535577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646920" y="4257765"/>
            <a:ext cx="2194560" cy="484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Libre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54864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4E79"/>
                </a:solidFill>
                <a:latin typeface="Calibri"/>
              </a:rPr>
              <a:t>Esta tabla = 'mapa del cableado'. TODO tecnico puede orientarse con ella.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06040"/>
            <a:ext cx="12188952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80360"/>
            <a:ext cx="12188952" cy="508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SECCION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Topologia Fisica Completa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76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Topologia Fisica Completa – Diagrama conceptual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7315200" cy="5303520"/>
          </a:xfrm>
          <a:prstGeom prst="rect">
            <a:avLst/>
          </a:prstGeom>
          <a:solidFill>
            <a:srgbClr val="F5F5F5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71323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F4E79"/>
                </a:solidFill>
                <a:latin typeface="Courier New"/>
              </a:rPr>
              <a:t>                    RACK (Centro)
         +---------------------------+
         |  [ Router 2911        ]   |
         |  [ Switch 2960        ]   |
         |  [ Patch Panel 24 pts ]   |
         |  [ Servidor Web       ]   |
         |  [ Servidor DNS       ]   |
         +---------------------------+
              |    |    |    |    |
             PP1  PP2  PP3  PP4  PP5
              |    |    |    |    |
            WM1  WM2  WM3  WM4  WM5
              |    |    |    |    |
             PC1 Lap1 Imp1  PC2 Lap2
           Of.1 Of.2 Reun. Alm. Recep.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143000"/>
            <a:ext cx="420624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168400"/>
            <a:ext cx="4023360" cy="36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Reglas de oro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554480"/>
            <a:ext cx="4206240" cy="3703320"/>
          </a:xfrm>
          <a:prstGeom prst="rect">
            <a:avLst/>
          </a:prstGeom>
          <a:solidFill>
            <a:srgbClr val="D9E2F3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605280"/>
            <a:ext cx="3931920" cy="360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• Servidores -&gt; directo al switch (sin pasar por PP)
• Dispositivos usuario -&gt; WM -&gt; PP -&gt; Switch
• TODO cable es Straight-Through
• SIEMPRE documenta en tabla Punch Down
• El RACK va en el centro logico del diagrama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4652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  <a:latin typeface="Calibri"/>
              </a:rPr>
              <a:t>Flujo: PC -&gt; WM -&gt; (cable en pared) -&gt; Patch Panel -&gt; (patch cable) -&gt; Switch -&gt; Router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76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Armar la topologia en Packet Tracer – Orden recomendado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1612880" cy="566928"/>
          </a:xfrm>
          <a:prstGeom prst="rect">
            <a:avLst/>
          </a:prstGeom>
          <a:solidFill>
            <a:srgbClr val="D9E2F3"/>
          </a:solidFill>
          <a:ln w="381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26820"/>
            <a:ext cx="113385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PASO 1: Coloca el Router 2911 y el Switch 2960. Conectalos con Straight-Through.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10512"/>
            <a:ext cx="1161288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848612"/>
            <a:ext cx="113385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PASO 2: Agrega los Servidores (Web, DNS). Conecta cada uno al Switch directo.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432304"/>
            <a:ext cx="11612880" cy="566928"/>
          </a:xfrm>
          <a:prstGeom prst="rect">
            <a:avLst/>
          </a:prstGeom>
          <a:solidFill>
            <a:srgbClr val="D9E2F3"/>
          </a:solidFill>
          <a:ln w="381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470404"/>
            <a:ext cx="113385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PASO 3: Agrega el Patch Panel (24 puertos). Posiciona encima del switch en el rack.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054096"/>
            <a:ext cx="1161288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092196"/>
            <a:ext cx="113385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PASO 4: Conecta el Patch Panel al Switch: PP Puerto 1 -&gt; Switch Fa0/1, PP Puerto 2 -&gt; Switch Fa0/2, etc.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675888"/>
            <a:ext cx="11612880" cy="566928"/>
          </a:xfrm>
          <a:prstGeom prst="rect">
            <a:avLst/>
          </a:prstGeom>
          <a:solidFill>
            <a:srgbClr val="D9E2F3"/>
          </a:solidFill>
          <a:ln w="381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713988"/>
            <a:ext cx="113385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PASO 5: Agrega los Copper Wall Mounts. Distribuye uno en cada area (Of.1, Of.2, Reuniones...).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297680"/>
            <a:ext cx="1161288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335780"/>
            <a:ext cx="113385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PASO 6: Conecta los Wall Mounts al Patch Panel (lado trasero): WM1 -&gt; PP Port1, WM2 -&gt; PP Port2...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9472"/>
            <a:ext cx="11612880" cy="566928"/>
          </a:xfrm>
          <a:prstGeom prst="rect">
            <a:avLst/>
          </a:prstGeom>
          <a:solidFill>
            <a:srgbClr val="D9E2F3"/>
          </a:solidFill>
          <a:ln w="381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957572"/>
            <a:ext cx="113385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PASO 7: Conecta los dispositivos finales (PC, Laptop, Impresora) a sus respectivos Wall Mounts.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541264"/>
            <a:ext cx="1161288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579364"/>
            <a:ext cx="113385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PASO 8: Etiqueta TODO y completa la tabla de Punch Down.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76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Verificacion de la topologia – Lista de chequeo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48640" cy="530352"/>
          </a:xfrm>
          <a:prstGeom prst="rect">
            <a:avLst/>
          </a:prstGeom>
          <a:solidFill>
            <a:srgbClr val="378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3464" y="1214120"/>
            <a:ext cx="52120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188720"/>
            <a:ext cx="10972800" cy="530352"/>
          </a:xfrm>
          <a:prstGeom prst="rect">
            <a:avLst/>
          </a:prstGeom>
          <a:solidFill>
            <a:srgbClr val="D9E2F3"/>
          </a:solidFill>
          <a:ln w="381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22682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Todos los cables son Copper Straight-Through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01368"/>
            <a:ext cx="548640" cy="530352"/>
          </a:xfrm>
          <a:prstGeom prst="rect">
            <a:avLst/>
          </a:prstGeom>
          <a:solidFill>
            <a:srgbClr val="378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1826768"/>
            <a:ext cx="52120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801368"/>
            <a:ext cx="109728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39468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Todos los indicadores de puertos estan en VERDE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414016"/>
            <a:ext cx="548640" cy="530352"/>
          </a:xfrm>
          <a:prstGeom prst="rect">
            <a:avLst/>
          </a:prstGeom>
          <a:solidFill>
            <a:srgbClr val="378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" y="2439416"/>
            <a:ext cx="52120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2414016"/>
            <a:ext cx="10972800" cy="530352"/>
          </a:xfrm>
          <a:prstGeom prst="rect">
            <a:avLst/>
          </a:prstGeom>
          <a:solidFill>
            <a:srgbClr val="D9E2F3"/>
          </a:solidFill>
          <a:ln w="381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452116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El Patch Panel esta conectado al switch en puertos consecutivos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26664"/>
            <a:ext cx="548640" cy="530352"/>
          </a:xfrm>
          <a:prstGeom prst="rect">
            <a:avLst/>
          </a:prstGeom>
          <a:solidFill>
            <a:srgbClr val="378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" y="3052064"/>
            <a:ext cx="52120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026664"/>
            <a:ext cx="109728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064764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Los Wall Mounts estan distribuidos en diferentes areas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639312"/>
            <a:ext cx="548640" cy="530352"/>
          </a:xfrm>
          <a:prstGeom prst="rect">
            <a:avLst/>
          </a:prstGeom>
          <a:solidFill>
            <a:srgbClr val="378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" y="3664712"/>
            <a:ext cx="52120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639312"/>
            <a:ext cx="10972800" cy="530352"/>
          </a:xfrm>
          <a:prstGeom prst="rect">
            <a:avLst/>
          </a:prstGeom>
          <a:solidFill>
            <a:srgbClr val="D9E2F3"/>
          </a:solidFill>
          <a:ln w="381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677412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Los dispositivos finales estan conectados a los WM (no directo al switch)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251960"/>
            <a:ext cx="548640" cy="530352"/>
          </a:xfrm>
          <a:prstGeom prst="rect">
            <a:avLst/>
          </a:prstGeom>
          <a:solidFill>
            <a:srgbClr val="378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" y="4277360"/>
            <a:ext cx="52120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251960"/>
            <a:ext cx="109728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29006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Los servidores estan conectados DIRECTAMENTE al switch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864608"/>
            <a:ext cx="548640" cy="530352"/>
          </a:xfrm>
          <a:prstGeom prst="rect">
            <a:avLst/>
          </a:prstGeom>
          <a:solidFill>
            <a:srgbClr val="378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" y="4890008"/>
            <a:ext cx="52120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4864608"/>
            <a:ext cx="10972800" cy="530352"/>
          </a:xfrm>
          <a:prstGeom prst="rect">
            <a:avLst/>
          </a:prstGeom>
          <a:solidFill>
            <a:srgbClr val="D9E2F3"/>
          </a:solidFill>
          <a:ln w="381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902708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Todos los componentes tienen etiqueta descriptiva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477256"/>
            <a:ext cx="548640" cy="530352"/>
          </a:xfrm>
          <a:prstGeom prst="rect">
            <a:avLst/>
          </a:prstGeom>
          <a:solidFill>
            <a:srgbClr val="378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3464" y="5502656"/>
            <a:ext cx="52120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5477256"/>
            <a:ext cx="109728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515356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La tabla de Punch Down esta completa y documentada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06040"/>
            <a:ext cx="12188952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80360"/>
            <a:ext cx="12188952" cy="508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ACTIVIDADES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Practica autonoma en Packet Tracer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76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Actividades Practicas – 3 Niveles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1612880" cy="411480"/>
          </a:xfrm>
          <a:prstGeom prst="rect">
            <a:avLst/>
          </a:prstGeom>
          <a:solidFill>
            <a:srgbClr val="378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14120"/>
            <a:ext cx="11430000" cy="36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Actividad 1 – BASICO (15 min)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11612880" cy="1143000"/>
          </a:xfrm>
          <a:prstGeom prst="rect">
            <a:avLst/>
          </a:prstGeom>
          <a:solidFill>
            <a:srgbClr val="E2EFDA"/>
          </a:solidFill>
          <a:ln w="12700">
            <a:solidFill>
              <a:srgbClr val="378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51000"/>
            <a:ext cx="11338560" cy="1041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• Red con Router + Switch ya creados
• Agrega 2 servidores (Web y DNS) + 3 computadores
• Conecta todo con Straight-Through
• Pregunta: Por que los servidores van directo al switch?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926080"/>
            <a:ext cx="116128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951480"/>
            <a:ext cx="11430000" cy="36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Actividad 2 – INTERMEDIO (20 min)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337560"/>
            <a:ext cx="11612880" cy="1143000"/>
          </a:xfrm>
          <a:prstGeom prst="rect">
            <a:avLst/>
          </a:prstGeom>
          <a:solidFill>
            <a:srgbClr val="D9E2F3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388360"/>
            <a:ext cx="11338560" cy="1041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• Empresa con 3 oficinas + sala de reuniones
• Implementa Patch Panel + 4 Wall Mounts
• NINGUN usuario conecta directo al switch
• Completa tabla de Punch Down (6 puertos)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663440"/>
            <a:ext cx="11612880" cy="41148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688840"/>
            <a:ext cx="11430000" cy="36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Actividad 3 – AVANZADO (25 min)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074920"/>
            <a:ext cx="11612880" cy="1143000"/>
          </a:xfrm>
          <a:prstGeom prst="rect">
            <a:avLst/>
          </a:prstGeom>
          <a:solidFill>
            <a:srgbClr val="FFF2CC"/>
          </a:solidFill>
          <a:ln w="127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5125720"/>
            <a:ext cx="11338560" cy="1041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• Oficina mediana: 2 areas trabajo, sala reuniones, area servidores
• 1 Router, 1 Switch, 1 Patch Panel 24p, 7+ Wall Mounts, 3 Servidores, 7+ dispositivos
• Etiqueta TODO. Tabla Punch Down completa.
• Pregunta: Como escalas si la empresa duplica empleados?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76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Recapitulacion – Lo que aprendimos hoy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743200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141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188720"/>
            <a:ext cx="8869680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1214120"/>
            <a:ext cx="8778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Concepto clave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54480"/>
            <a:ext cx="2743200" cy="487680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579880"/>
            <a:ext cx="2651760" cy="436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Modelo OSI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554480"/>
            <a:ext cx="8869680" cy="487680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1579880"/>
            <a:ext cx="8778240" cy="436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Capa 1=Fisica (cables), Capa 2=Switch, Capa 3=Router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42160"/>
            <a:ext cx="2743200" cy="48768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067560"/>
            <a:ext cx="2651760" cy="436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Servidor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2042160"/>
            <a:ext cx="8869680" cy="48768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40" y="2067560"/>
            <a:ext cx="8778240" cy="436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Computador 24/7 que ofrece servicios; conecta directo al switch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529840"/>
            <a:ext cx="2743200" cy="487680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555240"/>
            <a:ext cx="2651760" cy="436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Cableado Estr.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2529840"/>
            <a:ext cx="8869680" cy="487680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3240" y="2555240"/>
            <a:ext cx="8778240" cy="436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Sistema estandarizado y documentado (TIA/EIA 568)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017520"/>
            <a:ext cx="2743200" cy="48768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042920"/>
            <a:ext cx="2651760" cy="436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Patch Panel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3017520"/>
            <a:ext cx="8869680" cy="48768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63240" y="3042920"/>
            <a:ext cx="8778240" cy="436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Central de cableado; concentra todos los cables de las paredes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505200"/>
            <a:ext cx="2743200" cy="487680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3530600"/>
            <a:ext cx="2651760" cy="436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Copper Wall Mount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3505200"/>
            <a:ext cx="8869680" cy="487680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63240" y="3530600"/>
            <a:ext cx="8778240" cy="436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Toma de pared donde se conecta el dispositivo del usuario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992880"/>
            <a:ext cx="2743200" cy="48768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4018280"/>
            <a:ext cx="2651760" cy="436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Punch Down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3992880"/>
            <a:ext cx="8869680" cy="48768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63240" y="4018280"/>
            <a:ext cx="8778240" cy="436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Tecnica de numeracion; SIEMPRE documentar en tabla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480560"/>
            <a:ext cx="2743200" cy="487680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4505960"/>
            <a:ext cx="2651760" cy="436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Straight-Through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17520" y="4480560"/>
            <a:ext cx="8869680" cy="487680"/>
          </a:xfrm>
          <a:prstGeom prst="rect">
            <a:avLst/>
          </a:prstGeom>
          <a:solidFill>
            <a:srgbClr val="D9E2F3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4505960"/>
            <a:ext cx="8778240" cy="436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Cable 568B-568B para todas las conexiones de esta clase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968240"/>
            <a:ext cx="2743200" cy="48768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4993640"/>
            <a:ext cx="2651760" cy="436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Topologia fisica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7520" y="4968240"/>
            <a:ext cx="8869680" cy="48768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63240" y="4993640"/>
            <a:ext cx="8778240" cy="436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Flujo: Dispositivo -&gt; WM -&gt; PP -&gt; Switch -&gt; Router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12648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55A11"/>
                </a:solidFill>
                <a:latin typeface="Calibri"/>
              </a:rPr>
              <a:t>Recuerda: HOY solo topologia fisica. La proxima clase configuramos IP.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57700"/>
            <a:ext cx="12188952" cy="24003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9E2F3"/>
                </a:solidFill>
                <a:latin typeface="Calibri"/>
              </a:rPr>
              <a:t>Proxima Clase: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Configuracion de Direcciones IP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474720"/>
            <a:ext cx="10332720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500120"/>
            <a:ext cx="10149840" cy="36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Tarea para la proxima clase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886200"/>
            <a:ext cx="10332720" cy="2148840"/>
          </a:xfrm>
          <a:prstGeom prst="rect">
            <a:avLst/>
          </a:prstGeom>
          <a:solidFill>
            <a:srgbClr val="1A3A60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937000"/>
            <a:ext cx="10058400" cy="204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• Tener lista la topologia de la Actividad 3 guardada en Packet Tracer
• Investiga: Que es una direccion IP? Para que sirve?
• Revisa: Como se asigna una IP estatica en una PC (Windows)?
• Opcional: Busca 'Configuracion IP en Cisco Packet Tracer' en YouTube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Instalacion de Redes  |  3 Medio TP Conectividad y Redes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